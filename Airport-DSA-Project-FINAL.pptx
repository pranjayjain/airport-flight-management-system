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9" r:id="rId7"/>
    <p:sldId id="261" r:id="rId8"/>
    <p:sldId id="266" r:id="rId9"/>
    <p:sldId id="267" r:id="rId10"/>
    <p:sldId id="268" r:id="rId11"/>
    <p:sldId id="262" r:id="rId12"/>
    <p:sldId id="263" r:id="rId13"/>
    <p:sldId id="264" r:id="rId14"/>
    <p:sldId id="265"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ABF6C63-DCAD-75B9-0C95-01FFD08C80D6}">
          <p14:sldIdLst>
            <p14:sldId id="256"/>
            <p14:sldId id="257"/>
          </p14:sldIdLst>
        </p14:section>
        <p14:section name="Design" id="{55E6C009-5A37-38BB-AB85-8B3478278D9B}">
          <p14:sldIdLst>
            <p14:sldId id="258"/>
            <p14:sldId id="259"/>
            <p14:sldId id="260"/>
          </p14:sldIdLst>
        </p14:section>
        <p14:section name="Algorithms" id="{D75AF879-82FE-E940-CFE5-BC1C4D6BC182}">
          <p14:sldIdLst>
            <p14:sldId id="269"/>
            <p14:sldId id="261"/>
            <p14:sldId id="266"/>
            <p14:sldId id="267"/>
            <p14:sldId id="268"/>
            <p14:sldId id="262"/>
            <p14:sldId id="263"/>
          </p14:sldIdLst>
        </p14:section>
        <p14:section name="Results" id="{CA8945E7-6B66-6F2B-F4F9-169B3CC1A4D9}">
          <p14:sldIdLst>
            <p14:sldId id="264"/>
          </p14:sldIdLst>
        </p14:section>
        <p14:section name="Conclusion" id="{E2974096-BAFA-DCA7-224A-A5D9FFD37C4C}">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E3B023-FBA0-47BD-A136-11D3691217B0}" v="7" dt="2026-10-08T07:16:2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i Jain" userId="0e218c848ac239af" providerId="LiveId" clId="{ACF16EED-F962-4BA7-A8C1-FCCCB1726639}"/>
    <pc:docChg chg="undo custSel addSld modSld sldOrd modSection">
      <pc:chgData name="Rishi Jain" userId="0e218c848ac239af" providerId="LiveId" clId="{ACF16EED-F962-4BA7-A8C1-FCCCB1726639}" dt="2026-10-08T07:29:19.442" v="118" actId="1076"/>
      <pc:docMkLst>
        <pc:docMk/>
      </pc:docMkLst>
      <pc:sldChg chg="addSp delSp modSp new mod ord setBg">
        <pc:chgData name="Rishi Jain" userId="0e218c848ac239af" providerId="LiveId" clId="{ACF16EED-F962-4BA7-A8C1-FCCCB1726639}" dt="2026-10-08T07:29:19.442" v="118" actId="1076"/>
        <pc:sldMkLst>
          <pc:docMk/>
          <pc:sldMk cId="3180680177" sldId="269"/>
        </pc:sldMkLst>
        <pc:spChg chg="add mod">
          <ac:chgData name="Rishi Jain" userId="0e218c848ac239af" providerId="LiveId" clId="{ACF16EED-F962-4BA7-A8C1-FCCCB1726639}" dt="2026-10-08T07:17:15.995" v="112" actId="26606"/>
          <ac:spMkLst>
            <pc:docMk/>
            <pc:sldMk cId="3180680177" sldId="269"/>
            <ac:spMk id="4" creationId="{D2306727-6B4C-61D2-679B-42C77C01512F}"/>
          </ac:spMkLst>
        </pc:spChg>
        <pc:spChg chg="add del mod">
          <ac:chgData name="Rishi Jain" userId="0e218c848ac239af" providerId="LiveId" clId="{ACF16EED-F962-4BA7-A8C1-FCCCB1726639}" dt="2026-10-08T07:16:22.492" v="97" actId="767"/>
          <ac:spMkLst>
            <pc:docMk/>
            <pc:sldMk cId="3180680177" sldId="269"/>
            <ac:spMk id="5" creationId="{334807FD-FB18-5E6A-E4A1-D1CCD53FC334}"/>
          </ac:spMkLst>
        </pc:spChg>
        <pc:spChg chg="add del mod">
          <ac:chgData name="Rishi Jain" userId="0e218c848ac239af" providerId="LiveId" clId="{ACF16EED-F962-4BA7-A8C1-FCCCB1726639}" dt="2026-10-08T07:16:21.646" v="95" actId="767"/>
          <ac:spMkLst>
            <pc:docMk/>
            <pc:sldMk cId="3180680177" sldId="269"/>
            <ac:spMk id="6" creationId="{21579D0B-5B5C-49A6-FA04-AB6B113A76A9}"/>
          </ac:spMkLst>
        </pc:spChg>
        <pc:spChg chg="add del mod">
          <ac:chgData name="Rishi Jain" userId="0e218c848ac239af" providerId="LiveId" clId="{ACF16EED-F962-4BA7-A8C1-FCCCB1726639}" dt="2026-10-08T07:16:20.646" v="93" actId="767"/>
          <ac:spMkLst>
            <pc:docMk/>
            <pc:sldMk cId="3180680177" sldId="269"/>
            <ac:spMk id="7" creationId="{EF3D5F5B-B617-CB47-579F-9271B955B582}"/>
          </ac:spMkLst>
        </pc:spChg>
        <pc:spChg chg="add del">
          <ac:chgData name="Rishi Jain" userId="0e218c848ac239af" providerId="LiveId" clId="{ACF16EED-F962-4BA7-A8C1-FCCCB1726639}" dt="2026-10-08T07:13:56.979" v="5" actId="26606"/>
          <ac:spMkLst>
            <pc:docMk/>
            <pc:sldMk cId="3180680177" sldId="269"/>
            <ac:spMk id="8" creationId="{32BC26D8-82FB-445E-AA49-62A77D7C1EE0}"/>
          </ac:spMkLst>
        </pc:spChg>
        <pc:spChg chg="add del">
          <ac:chgData name="Rishi Jain" userId="0e218c848ac239af" providerId="LiveId" clId="{ACF16EED-F962-4BA7-A8C1-FCCCB1726639}" dt="2026-10-08T07:16:22.948" v="98" actId="26606"/>
          <ac:spMkLst>
            <pc:docMk/>
            <pc:sldMk cId="3180680177" sldId="269"/>
            <ac:spMk id="9" creationId="{D4771268-CB57-404A-9271-370EB28F6090}"/>
          </ac:spMkLst>
        </pc:spChg>
        <pc:spChg chg="add del">
          <ac:chgData name="Rishi Jain" userId="0e218c848ac239af" providerId="LiveId" clId="{ACF16EED-F962-4BA7-A8C1-FCCCB1726639}" dt="2026-10-08T07:13:56.979" v="5" actId="26606"/>
          <ac:spMkLst>
            <pc:docMk/>
            <pc:sldMk cId="3180680177" sldId="269"/>
            <ac:spMk id="10" creationId="{CB44330D-EA18-4254-AA95-EB49948539B8}"/>
          </ac:spMkLst>
        </pc:spChg>
        <pc:spChg chg="add del">
          <ac:chgData name="Rishi Jain" userId="0e218c848ac239af" providerId="LiveId" clId="{ACF16EED-F962-4BA7-A8C1-FCCCB1726639}" dt="2026-10-08T07:17:15.995" v="112" actId="26606"/>
          <ac:spMkLst>
            <pc:docMk/>
            <pc:sldMk cId="3180680177" sldId="269"/>
            <ac:spMk id="11" creationId="{A4AC5506-6312-4701-8D3C-40187889A947}"/>
          </ac:spMkLst>
        </pc:spChg>
        <pc:picChg chg="add del mod ord">
          <ac:chgData name="Rishi Jain" userId="0e218c848ac239af" providerId="LiveId" clId="{ACF16EED-F962-4BA7-A8C1-FCCCB1726639}" dt="2026-10-08T07:29:14.308" v="116" actId="478"/>
          <ac:picMkLst>
            <pc:docMk/>
            <pc:sldMk cId="3180680177" sldId="269"/>
            <ac:picMk id="3" creationId="{D605946A-014C-FC9D-3857-29340F94B4D2}"/>
          </ac:picMkLst>
        </pc:picChg>
        <pc:picChg chg="add mod">
          <ac:chgData name="Rishi Jain" userId="0e218c848ac239af" providerId="LiveId" clId="{ACF16EED-F962-4BA7-A8C1-FCCCB1726639}" dt="2026-10-08T07:29:19.442" v="118" actId="1076"/>
          <ac:picMkLst>
            <pc:docMk/>
            <pc:sldMk cId="3180680177" sldId="269"/>
            <ac:picMk id="13" creationId="{0DD04640-3F94-7849-CCEA-A4D1C310F9E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5757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an Airport Flight Management System written in C.
In one line: it decides which flight uses which runway, and it makes sure emergency flights always go first.
We built it to practise four data structures from our DSA course: a Queue, a Priority Queue, a Linked List and an Array. Each one has a clear job in the program, and I will show you where and why in the next slides.
(Introduce each team member and the part they worked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an airport has only a limited number of runways, but many flights want to land or take off. We cannot handle them randomly. Normal flights should be served in the order they arrive, but an emergency flight, for example low fuel, must jump the line.
Objectives: our program should accept landing and takeoff requests, always serve emergency flights first, and give every flight a free runway.
Key features: it is a menu-driven program with 11 options. You can add flights, process the next flight, search for a flight, cancel a flight, view the completed flights, and see the live airport status.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journey of a flight through our program, in four stages.
1. Input: the user chooses an option from the menu and types the flight number and name. This is stored in a simple struct called Flight.
2. Processing: the program decides if the flight is Normal or Emergency. Normal flights go into a Queue. Emergency flights go into a Priority Queue.
3. Runway Allocation: when we process the next flight, the program looks at the runway array and gives the flight the first free runway out of three.
4. Output: the program prints the flight details and runway number, and saves the flight in a Linked List of completed flights.
The coloured tags at the bottom show which data structure is used at each stage.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four data structures, and each one has a different job.
Queue: holds the normal flights. It is an array with two markers, front and rear. New flights join at the rear and flights leave from the front.
Priority Queue: holds emergency flights. Every emergency flight gets priority 10, and the list is always kept sorted so the most urgent flight is at position 0.
Linked List: stores completed flights. Each processed flight becomes a new node added at the head, using malloc, so the list can grow without a fixed limit.
Array: runwayStatus has 3 values. 0 means the runway is free and 1 means it is occupied.
Honest note for the viva: our queue and priority queue are built on arrays of size 10. The idea is queue behaviour, not the storage type.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Queue for normal flights? A queue is First In, First Out. The flight that asked first gets served first. That is exactly what fairness means at an airport.
Why Priority Queue for emergency flights? In a normal queue everyone waits their turn. In a priority queue the most urgent flight is always at the front, so an emergency flight lands before everyone else.
Why Linked List for completed flights? We do not know how many flights will be completed. A linked list grows one node at a time with malloc, so there is no fixed size. Adding a new record at the head takes constant time.
What if we used only arrays or stacks?
A stack is Last In, First Out. The newest flight would be served first and the earliest flights could wait forever. That is unfair and unsafe.
A plain array has a fixed size, so after 10 completed flights we would have to throw records away. It also has no built-in ordering, so we would have to manage order and shifting by hand.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five main algorithms. Each row is a small flow diagram read left to right.
Add Flight: take the flight number and name, mark it Normal, check if the queue is full, and if not, insert it at the rear.
Emergency Landing: mark the flight with priority 10. Then shift flights with lower priority one place to the right and insert the new flight in its sorted position. This keeps the highest priority at the front.
Process Next Flight: if any emergency flight is waiting, take it. Otherwise take the front of the normal queue. Then find the first free runway, print the details, and store the flight in the linked list.
Search Flight: scan the normal queue, then the priority queue, then the completed records, and say where the flight was found.
Cancel Flight: find the flight in the normal queue or priority queue, shift the remaining flights left to close the gap, and reduce the size by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n means the number of flights waiting.
Enqueue is O(1): we add at the rear and nothing has to move.
Dequeue is O(1): we take the flight at the front and just move the front marker forward.
Priority Insert is O(n): to keep the list sorted, we may need to shift many flights to the right.
Priority Remove is O(n): after taking the first flight, we shift all the others one step to the left.
Search is O(n): we scan the flights one by one.
Cancel is O(n): we first find the flight, then shift the others to fill the gap.
If the examiner asks how to improve this: a heap-based priority queue would make insert and remove O(log n). Since our size limit is only 10, the simple sorted array is perfectly fast and easy to understand.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combines everything into one picture, left to right.
1. User Request: the user enters a menu choice and the flight details.
2. Flight Classification: the first diamond asks, is it an emergency? If yes, the flight goes to the Priority Queue. If no, it goes to the Normal Queue.
3. Priority Handling: when we choose Process Next Flight, the program always checks the priority queue first. Only if it is empty does it take a flight from the normal queue.
4. Runway Allocation: the second diamond checks for a free runway in the runway array. If one is free, the flight gets it. If not, the program prints that all runways are occupied.
5. Record Storage: the flight is saved at the head of the linked list so it appears in the completed flights list.
If asked about a weak point: in our current version, a runway is marked occupied but never released. Releasing a runway after landing is our planned improvement.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panels show how the program runs. Before the viva, replace each panel with a real screenshot from your own run.
Panel 1: we add a normal flight, 101, and then an emergency flight, 202. The program confirms that one went to the normal queue and the other to the priority queue.
Panel 2: we choose Process Next Flight. Even though flight 101 came first, the emergency flight 202 is processed first and gets Runway 1. This proves the priority queue works.
Panel 3: Airport Status shows Runway 1 occupied, the other two free, no emergency flights waiting, and one normal flight still waiting.
Tip: do a live demo if you can. Add two normal flights, add one emergency flight, process once, then show the status.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we built an Airport Flight Management System in C that uses a Queue for normal flights, a Priority Queue for emergencies, a Linked List for completed records and an Array for runway status.
Key learnings: choosing the right data structure changes how the program behaves. A queue gives fairness, a priority queue gives urgency, and a linked list gives flexible size.
Limitations and future scope, which is good to say before the examiner asks: runways are never released after a flight is processed, the queue size is fixed at 10, and the priority queue could use a heap to reach O(log n). 
The code is on GitHub at the link shown (add your real link before presenting).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en-IN"/>
          </a:p>
        </p:txBody>
      </p:sp>
      <p:sp>
        <p:nvSpPr>
          <p:cNvPr id="3" name="Text 1"/>
          <p:cNvSpPr>
            <a:spLocks noGrp="1"/>
          </p:cNvSpPr>
          <p:nvPr>
            <p:ph type="title" idx="101" hasCustomPrompt="1"/>
          </p:nvPr>
        </p:nvSpPr>
        <p:spPr>
          <a:xfrm>
            <a:off x="548640" y="1188720"/>
            <a:ext cx="5760720" cy="15544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548640" y="274320"/>
            <a:ext cx="804672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hyperlink" Target="https://github.com/pranjayjain/Airport-Flight-Management-Syste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77240"/>
            <a:ext cx="5760720" cy="274320"/>
          </a:xfrm>
          <a:prstGeom prst="rect">
            <a:avLst/>
          </a:prstGeom>
          <a:noFill/>
          <a:ln/>
        </p:spPr>
        <p:txBody>
          <a:bodyPr wrap="square" lIns="0" tIns="0" rIns="0" bIns="0" rtlCol="0" anchor="ctr"/>
          <a:lstStyle/>
          <a:p>
            <a:pPr marL="0" indent="0">
              <a:buNone/>
            </a:pPr>
            <a:r>
              <a:rPr lang="en-US" sz="1200" b="1" kern="0" spc="300" dirty="0">
                <a:solidFill>
                  <a:schemeClr val="accent6"/>
                </a:solidFill>
              </a:rPr>
              <a:t>DATA STRUCTURES &amp; ALGORITHMS PROJECT</a:t>
            </a:r>
            <a:endParaRPr lang="en-US" sz="1200" dirty="0"/>
          </a:p>
        </p:txBody>
      </p:sp>
      <p:sp>
        <p:nvSpPr>
          <p:cNvPr id="3" name="Text 1"/>
          <p:cNvSpPr>
            <a:spLocks noGrp="1"/>
          </p:cNvSpPr>
          <p:nvPr>
            <p:ph type="title" idx="101" hasCustomPrompt="1"/>
          </p:nvPr>
        </p:nvSpPr>
        <p:spPr>
          <a:xfrm>
            <a:off x="548640" y="1188720"/>
            <a:ext cx="5760720" cy="1554480"/>
          </a:xfrm>
          <a:prstGeom prst="rect">
            <a:avLst/>
          </a:prstGeom>
          <a:noFill/>
          <a:ln/>
        </p:spPr>
        <p:txBody>
          <a:bodyPr wrap="square" lIns="0" tIns="0" rIns="0" bIns="0" rtlCol="0" anchor="t"/>
          <a:lstStyle/>
          <a:p>
            <a:pPr marL="0" indent="0" algn="l">
              <a:buNone/>
            </a:pPr>
            <a:r>
              <a:rPr lang="en-US" sz="3400" b="1" i="1" dirty="0">
                <a:solidFill>
                  <a:schemeClr val="bg1"/>
                </a:solidFill>
              </a:rPr>
              <a:t>Airport Flight Management System</a:t>
            </a:r>
            <a:endParaRPr lang="en-US" sz="3400" i="1" dirty="0"/>
          </a:p>
        </p:txBody>
      </p:sp>
      <p:sp>
        <p:nvSpPr>
          <p:cNvPr id="4" name="Text 2"/>
          <p:cNvSpPr txBox="1"/>
          <p:nvPr/>
        </p:nvSpPr>
        <p:spPr>
          <a:xfrm>
            <a:off x="548640" y="2743200"/>
            <a:ext cx="5303520" cy="548640"/>
          </a:xfrm>
          <a:prstGeom prst="rect">
            <a:avLst/>
          </a:prstGeom>
          <a:noFill/>
          <a:ln/>
        </p:spPr>
        <p:txBody>
          <a:bodyPr wrap="square" lIns="0" tIns="0" rIns="0" bIns="0" rtlCol="0" anchor="t"/>
          <a:lstStyle/>
          <a:p>
            <a:pPr marL="0" indent="0">
              <a:buNone/>
            </a:pPr>
            <a:r>
              <a:rPr lang="en-US" sz="1600" dirty="0">
                <a:solidFill>
                  <a:schemeClr val="bg2"/>
                </a:solidFill>
              </a:rPr>
              <a:t>Runway scheduling using Queue, Priority Queue, Linked List and Array</a:t>
            </a:r>
            <a:endParaRPr lang="en-US" sz="1600" dirty="0"/>
          </a:p>
        </p:txBody>
      </p:sp>
      <p:sp>
        <p:nvSpPr>
          <p:cNvPr id="5" name="Text 3"/>
          <p:cNvSpPr txBox="1"/>
          <p:nvPr/>
        </p:nvSpPr>
        <p:spPr>
          <a:xfrm>
            <a:off x="548640" y="3520440"/>
            <a:ext cx="2743200" cy="274320"/>
          </a:xfrm>
          <a:prstGeom prst="rect">
            <a:avLst/>
          </a:prstGeom>
          <a:noFill/>
          <a:ln/>
        </p:spPr>
        <p:txBody>
          <a:bodyPr wrap="square" lIns="0" tIns="0" rIns="0" bIns="0" rtlCol="0" anchor="ctr"/>
          <a:lstStyle/>
          <a:p>
            <a:pPr marL="0" indent="0">
              <a:buNone/>
            </a:pPr>
            <a:r>
              <a:rPr lang="en-US" sz="1400" b="1" dirty="0">
                <a:solidFill>
                  <a:schemeClr val="accent6"/>
                </a:solidFill>
              </a:rPr>
              <a:t>Team Members :</a:t>
            </a:r>
            <a:endParaRPr lang="en-US" sz="1400" dirty="0"/>
          </a:p>
        </p:txBody>
      </p:sp>
      <p:sp>
        <p:nvSpPr>
          <p:cNvPr id="6" name="Text 4"/>
          <p:cNvSpPr txBox="1"/>
          <p:nvPr/>
        </p:nvSpPr>
        <p:spPr>
          <a:xfrm>
            <a:off x="548640" y="3840480"/>
            <a:ext cx="2834640" cy="640080"/>
          </a:xfrm>
          <a:prstGeom prst="rect">
            <a:avLst/>
          </a:prstGeom>
          <a:noFill/>
          <a:ln/>
        </p:spPr>
        <p:txBody>
          <a:bodyPr wrap="square" lIns="0" tIns="0" rIns="0" bIns="0" rtlCol="0" anchor="t"/>
          <a:lstStyle/>
          <a:p>
            <a:pPr marL="0" indent="0">
              <a:buNone/>
            </a:pPr>
            <a:r>
              <a:rPr lang="en-US" sz="1400" dirty="0">
                <a:solidFill>
                  <a:schemeClr val="bg1"/>
                </a:solidFill>
              </a:rPr>
              <a:t>Pranjay Jain  – Roll No: V050</a:t>
            </a:r>
            <a:endParaRPr lang="en-US" sz="1400" dirty="0"/>
          </a:p>
          <a:p>
            <a:pPr marL="0" indent="0">
              <a:buNone/>
            </a:pPr>
            <a:r>
              <a:rPr lang="en-US" sz="1400" dirty="0">
                <a:solidFill>
                  <a:schemeClr val="bg1"/>
                </a:solidFill>
              </a:rPr>
              <a:t>Rahul Shah   – Roll No: V054</a:t>
            </a:r>
          </a:p>
          <a:p>
            <a:r>
              <a:rPr lang="en-US" sz="1400" dirty="0">
                <a:solidFill>
                  <a:schemeClr val="bg1"/>
                </a:solidFill>
              </a:rPr>
              <a:t>Rishi Jain       – Roll No: V058</a:t>
            </a:r>
            <a:endParaRPr lang="en-US" sz="1400" dirty="0"/>
          </a:p>
          <a:p>
            <a:pPr marL="0" indent="0">
              <a:buNone/>
            </a:pPr>
            <a:endParaRPr lang="en-US" sz="1400" dirty="0"/>
          </a:p>
        </p:txBody>
      </p:sp>
      <p:sp>
        <p:nvSpPr>
          <p:cNvPr id="8" name="Hero circle"/>
          <p:cNvSpPr/>
          <p:nvPr/>
        </p:nvSpPr>
        <p:spPr>
          <a:xfrm>
            <a:off x="6720840" y="1234440"/>
            <a:ext cx="2103120" cy="2103120"/>
          </a:xfrm>
          <a:prstGeom prst="ellipse">
            <a:avLst/>
          </a:prstGeom>
          <a:solidFill>
            <a:schemeClr val="accent1"/>
          </a:solidFill>
          <a:ln w="12700">
            <a:solidFill>
              <a:schemeClr val="accent1"/>
            </a:solidFill>
            <a:prstDash val="solid"/>
          </a:ln>
        </p:spPr>
        <p:txBody>
          <a:bodyPr/>
          <a:lstStyle/>
          <a:p>
            <a:endParaRPr lang="en-IN"/>
          </a:p>
        </p:txBody>
      </p:sp>
      <p:pic>
        <p:nvPicPr>
          <p:cNvPr id="9" name="Hero plane" descr="Airplane"/>
          <p:cNvPicPr>
            <a:picLocks noChangeAspect="1"/>
          </p:cNvPicPr>
          <p:nvPr/>
        </p:nvPicPr>
        <p:blipFill>
          <a:blip r:embed="rId3"/>
          <a:stretch>
            <a:fillRect/>
          </a:stretch>
        </p:blipFill>
        <p:spPr>
          <a:xfrm>
            <a:off x="7336092" y="1783080"/>
            <a:ext cx="1005840" cy="1005840"/>
          </a:xfrm>
          <a:prstGeom prst="rect">
            <a:avLst/>
          </a:prstGeom>
        </p:spPr>
      </p:pic>
      <p:sp>
        <p:nvSpPr>
          <p:cNvPr id="7" name="TextBox 6">
            <a:extLst>
              <a:ext uri="{FF2B5EF4-FFF2-40B4-BE49-F238E27FC236}">
                <a16:creationId xmlns:a16="http://schemas.microsoft.com/office/drawing/2014/main" id="{679E886E-4422-F8E8-BFD7-3F7861FBCF87}"/>
              </a:ext>
            </a:extLst>
          </p:cNvPr>
          <p:cNvSpPr txBox="1"/>
          <p:nvPr/>
        </p:nvSpPr>
        <p:spPr>
          <a:xfrm>
            <a:off x="3938954" y="3520440"/>
            <a:ext cx="2834640" cy="523220"/>
          </a:xfrm>
          <a:prstGeom prst="rect">
            <a:avLst/>
          </a:prstGeom>
          <a:noFill/>
        </p:spPr>
        <p:txBody>
          <a:bodyPr wrap="square" rtlCol="0">
            <a:spAutoFit/>
          </a:bodyPr>
          <a:lstStyle/>
          <a:p>
            <a:r>
              <a:rPr lang="en-US" sz="1400" b="1" dirty="0">
                <a:solidFill>
                  <a:schemeClr val="accent6"/>
                </a:solidFill>
              </a:rPr>
              <a:t>Faculty Name:</a:t>
            </a:r>
          </a:p>
          <a:p>
            <a:r>
              <a:rPr lang="en-US" sz="1400" dirty="0">
                <a:solidFill>
                  <a:schemeClr val="bg1"/>
                </a:solidFill>
              </a:rPr>
              <a:t>Dr. Divya Gautam Ma’am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Project Overview</a:t>
            </a:r>
            <a:endParaRPr lang="en-US" sz="3000" dirty="0"/>
          </a:p>
        </p:txBody>
      </p:sp>
      <p:sp>
        <p:nvSpPr>
          <p:cNvPr id="3" name="Problem Statement card"/>
          <p:cNvSpPr/>
          <p:nvPr/>
        </p:nvSpPr>
        <p:spPr>
          <a:xfrm>
            <a:off x="457200" y="1188720"/>
            <a:ext cx="2560320" cy="3017520"/>
          </a:xfrm>
          <a:prstGeom prst="roundRect">
            <a:avLst>
              <a:gd name="adj" fmla="val 428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4" name="Problem Statement circle"/>
          <p:cNvSpPr/>
          <p:nvPr/>
        </p:nvSpPr>
        <p:spPr>
          <a:xfrm>
            <a:off x="685800" y="1371600"/>
            <a:ext cx="548640" cy="548640"/>
          </a:xfrm>
          <a:prstGeom prst="ellipse">
            <a:avLst/>
          </a:prstGeom>
          <a:solidFill>
            <a:schemeClr val="accent5"/>
          </a:solidFill>
          <a:ln w="12700">
            <a:solidFill>
              <a:schemeClr val="accent5"/>
            </a:solidFill>
            <a:prstDash val="solid"/>
          </a:ln>
        </p:spPr>
        <p:txBody>
          <a:bodyPr/>
          <a:lstStyle/>
          <a:p>
            <a:endParaRPr lang="en-IN"/>
          </a:p>
        </p:txBody>
      </p:sp>
      <p:pic>
        <p:nvPicPr>
          <p:cNvPr id="5" name="Problem Statement icon" descr="Problem Statement"/>
          <p:cNvPicPr>
            <a:picLocks noChangeAspect="1"/>
          </p:cNvPicPr>
          <p:nvPr/>
        </p:nvPicPr>
        <p:blipFill>
          <a:blip r:embed="rId3"/>
          <a:stretch>
            <a:fillRect/>
          </a:stretch>
        </p:blipFill>
        <p:spPr>
          <a:xfrm>
            <a:off x="822960" y="1508760"/>
            <a:ext cx="274320" cy="274320"/>
          </a:xfrm>
          <a:prstGeom prst="rect">
            <a:avLst/>
          </a:prstGeom>
        </p:spPr>
      </p:pic>
      <p:sp>
        <p:nvSpPr>
          <p:cNvPr id="6" name="Text 3"/>
          <p:cNvSpPr txBox="1"/>
          <p:nvPr/>
        </p:nvSpPr>
        <p:spPr>
          <a:xfrm>
            <a:off x="685800" y="2011680"/>
            <a:ext cx="2103120" cy="365760"/>
          </a:xfrm>
          <a:prstGeom prst="rect">
            <a:avLst/>
          </a:prstGeom>
          <a:noFill/>
          <a:ln/>
        </p:spPr>
        <p:txBody>
          <a:bodyPr wrap="square" lIns="0" tIns="0" rIns="0" bIns="0" rtlCol="0" anchor="ctr"/>
          <a:lstStyle/>
          <a:p>
            <a:pPr marL="0" indent="0">
              <a:buNone/>
            </a:pPr>
            <a:r>
              <a:rPr lang="en-US" sz="1800" b="1" dirty="0">
                <a:solidFill>
                  <a:schemeClr val="tx1"/>
                </a:solidFill>
              </a:rPr>
              <a:t>Problem Statement</a:t>
            </a:r>
            <a:endParaRPr lang="en-US" sz="1800" dirty="0"/>
          </a:p>
        </p:txBody>
      </p:sp>
      <p:sp>
        <p:nvSpPr>
          <p:cNvPr id="7" name="Problem Statement list"/>
          <p:cNvSpPr txBox="1"/>
          <p:nvPr/>
        </p:nvSpPr>
        <p:spPr>
          <a:xfrm>
            <a:off x="685800" y="2468880"/>
            <a:ext cx="2148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An airport has only a few runways</a:t>
            </a:r>
            <a:endParaRPr lang="en-US" sz="1400" dirty="0"/>
          </a:p>
          <a:p>
            <a:pPr marL="342900" indent="-342900">
              <a:spcAft>
                <a:spcPts val="600"/>
              </a:spcAft>
              <a:buSzPct val="100000"/>
              <a:buChar char="•"/>
            </a:pPr>
            <a:r>
              <a:rPr lang="en-US" sz="1400" dirty="0">
                <a:solidFill>
                  <a:schemeClr val="tx1"/>
                </a:solidFill>
              </a:rPr>
              <a:t>Flights must be served in a fair order</a:t>
            </a:r>
            <a:endParaRPr lang="en-US" sz="1400" dirty="0"/>
          </a:p>
          <a:p>
            <a:pPr marL="342900" indent="-342900">
              <a:spcAft>
                <a:spcPts val="600"/>
              </a:spcAft>
              <a:buSzPct val="100000"/>
              <a:buChar char="•"/>
            </a:pPr>
            <a:r>
              <a:rPr lang="en-US" sz="1400" dirty="0">
                <a:solidFill>
                  <a:schemeClr val="tx1"/>
                </a:solidFill>
              </a:rPr>
              <a:t>Emergency flights cannot wait in line</a:t>
            </a:r>
            <a:endParaRPr lang="en-US" sz="1400" dirty="0"/>
          </a:p>
        </p:txBody>
      </p:sp>
      <p:sp>
        <p:nvSpPr>
          <p:cNvPr id="8" name="Objectives card"/>
          <p:cNvSpPr/>
          <p:nvPr/>
        </p:nvSpPr>
        <p:spPr>
          <a:xfrm>
            <a:off x="3291840" y="1188720"/>
            <a:ext cx="2560320" cy="3017520"/>
          </a:xfrm>
          <a:prstGeom prst="roundRect">
            <a:avLst>
              <a:gd name="adj" fmla="val 428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9" name="Objectives circle"/>
          <p:cNvSpPr/>
          <p:nvPr/>
        </p:nvSpPr>
        <p:spPr>
          <a:xfrm>
            <a:off x="3520440" y="137160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10" name="Objectives icon" descr="Objectives"/>
          <p:cNvPicPr>
            <a:picLocks noChangeAspect="1"/>
          </p:cNvPicPr>
          <p:nvPr/>
        </p:nvPicPr>
        <p:blipFill>
          <a:blip r:embed="rId4"/>
          <a:stretch>
            <a:fillRect/>
          </a:stretch>
        </p:blipFill>
        <p:spPr>
          <a:xfrm>
            <a:off x="3657600" y="1508760"/>
            <a:ext cx="274320" cy="274320"/>
          </a:xfrm>
          <a:prstGeom prst="rect">
            <a:avLst/>
          </a:prstGeom>
        </p:spPr>
      </p:pic>
      <p:sp>
        <p:nvSpPr>
          <p:cNvPr id="11" name="Text 7"/>
          <p:cNvSpPr txBox="1"/>
          <p:nvPr/>
        </p:nvSpPr>
        <p:spPr>
          <a:xfrm>
            <a:off x="3520440" y="2011680"/>
            <a:ext cx="2103120" cy="365760"/>
          </a:xfrm>
          <a:prstGeom prst="rect">
            <a:avLst/>
          </a:prstGeom>
          <a:noFill/>
          <a:ln/>
        </p:spPr>
        <p:txBody>
          <a:bodyPr wrap="square" lIns="0" tIns="0" rIns="0" bIns="0" rtlCol="0" anchor="ctr"/>
          <a:lstStyle/>
          <a:p>
            <a:pPr marL="0" indent="0">
              <a:buNone/>
            </a:pPr>
            <a:r>
              <a:rPr lang="en-US" sz="1800" b="1" dirty="0">
                <a:solidFill>
                  <a:schemeClr val="tx1"/>
                </a:solidFill>
              </a:rPr>
              <a:t>Objectives</a:t>
            </a:r>
            <a:endParaRPr lang="en-US" sz="1800" dirty="0"/>
          </a:p>
        </p:txBody>
      </p:sp>
      <p:sp>
        <p:nvSpPr>
          <p:cNvPr id="12" name="Objectives list"/>
          <p:cNvSpPr txBox="1"/>
          <p:nvPr/>
        </p:nvSpPr>
        <p:spPr>
          <a:xfrm>
            <a:off x="3520440" y="2468880"/>
            <a:ext cx="2148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Manage landing and takeoff requests</a:t>
            </a:r>
            <a:endParaRPr lang="en-US" sz="1400" dirty="0"/>
          </a:p>
          <a:p>
            <a:pPr marL="342900" indent="-342900">
              <a:spcAft>
                <a:spcPts val="600"/>
              </a:spcAft>
              <a:buSzPct val="100000"/>
              <a:buChar char="•"/>
            </a:pPr>
            <a:r>
              <a:rPr lang="en-US" sz="1400" dirty="0">
                <a:solidFill>
                  <a:schemeClr val="tx1"/>
                </a:solidFill>
              </a:rPr>
              <a:t>Serve emergency flights first</a:t>
            </a:r>
            <a:endParaRPr lang="en-US" sz="1400" dirty="0"/>
          </a:p>
          <a:p>
            <a:pPr marL="342900" indent="-342900">
              <a:spcAft>
                <a:spcPts val="600"/>
              </a:spcAft>
              <a:buSzPct val="100000"/>
              <a:buChar char="•"/>
            </a:pPr>
            <a:r>
              <a:rPr lang="en-US" sz="1400" dirty="0">
                <a:solidFill>
                  <a:schemeClr val="tx1"/>
                </a:solidFill>
              </a:rPr>
              <a:t>Give each flight a free runway</a:t>
            </a:r>
            <a:endParaRPr lang="en-US" sz="1400" dirty="0"/>
          </a:p>
        </p:txBody>
      </p:sp>
      <p:sp>
        <p:nvSpPr>
          <p:cNvPr id="13" name="Key Features card"/>
          <p:cNvSpPr/>
          <p:nvPr/>
        </p:nvSpPr>
        <p:spPr>
          <a:xfrm>
            <a:off x="6126480" y="1188720"/>
            <a:ext cx="2560320" cy="3017520"/>
          </a:xfrm>
          <a:prstGeom prst="roundRect">
            <a:avLst>
              <a:gd name="adj" fmla="val 4286"/>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4" name="Key Features circle"/>
          <p:cNvSpPr/>
          <p:nvPr/>
        </p:nvSpPr>
        <p:spPr>
          <a:xfrm>
            <a:off x="6355080" y="1371600"/>
            <a:ext cx="548640" cy="548640"/>
          </a:xfrm>
          <a:prstGeom prst="ellipse">
            <a:avLst/>
          </a:prstGeom>
          <a:solidFill>
            <a:schemeClr val="accent3"/>
          </a:solidFill>
          <a:ln w="12700">
            <a:solidFill>
              <a:schemeClr val="accent3"/>
            </a:solidFill>
            <a:prstDash val="solid"/>
          </a:ln>
        </p:spPr>
        <p:txBody>
          <a:bodyPr/>
          <a:lstStyle/>
          <a:p>
            <a:endParaRPr lang="en-IN"/>
          </a:p>
        </p:txBody>
      </p:sp>
      <p:pic>
        <p:nvPicPr>
          <p:cNvPr id="15" name="Key Features icon" descr="Key Features"/>
          <p:cNvPicPr>
            <a:picLocks noChangeAspect="1"/>
          </p:cNvPicPr>
          <p:nvPr/>
        </p:nvPicPr>
        <p:blipFill>
          <a:blip r:embed="rId5"/>
          <a:stretch>
            <a:fillRect/>
          </a:stretch>
        </p:blipFill>
        <p:spPr>
          <a:xfrm>
            <a:off x="6492240" y="1508760"/>
            <a:ext cx="274320" cy="274320"/>
          </a:xfrm>
          <a:prstGeom prst="rect">
            <a:avLst/>
          </a:prstGeom>
        </p:spPr>
      </p:pic>
      <p:sp>
        <p:nvSpPr>
          <p:cNvPr id="16" name="Text 11"/>
          <p:cNvSpPr txBox="1"/>
          <p:nvPr/>
        </p:nvSpPr>
        <p:spPr>
          <a:xfrm>
            <a:off x="6355080" y="2011680"/>
            <a:ext cx="2103120" cy="365760"/>
          </a:xfrm>
          <a:prstGeom prst="rect">
            <a:avLst/>
          </a:prstGeom>
          <a:noFill/>
          <a:ln/>
        </p:spPr>
        <p:txBody>
          <a:bodyPr wrap="square" lIns="0" tIns="0" rIns="0" bIns="0" rtlCol="0" anchor="ctr"/>
          <a:lstStyle/>
          <a:p>
            <a:pPr marL="0" indent="0">
              <a:buNone/>
            </a:pPr>
            <a:r>
              <a:rPr lang="en-US" sz="1800" b="1" dirty="0">
                <a:solidFill>
                  <a:schemeClr val="tx1"/>
                </a:solidFill>
              </a:rPr>
              <a:t>Key Features</a:t>
            </a:r>
            <a:endParaRPr lang="en-US" sz="1800" dirty="0"/>
          </a:p>
        </p:txBody>
      </p:sp>
      <p:sp>
        <p:nvSpPr>
          <p:cNvPr id="17" name="Key Features list"/>
          <p:cNvSpPr txBox="1"/>
          <p:nvPr/>
        </p:nvSpPr>
        <p:spPr>
          <a:xfrm>
            <a:off x="6355080" y="2468880"/>
            <a:ext cx="2148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Menu-driven C program</a:t>
            </a:r>
            <a:endParaRPr lang="en-US" sz="1400" dirty="0"/>
          </a:p>
          <a:p>
            <a:pPr marL="342900" indent="-342900">
              <a:spcAft>
                <a:spcPts val="600"/>
              </a:spcAft>
              <a:buSzPct val="100000"/>
              <a:buChar char="•"/>
            </a:pPr>
            <a:r>
              <a:rPr lang="en-US" sz="1400" dirty="0">
                <a:solidFill>
                  <a:schemeClr val="tx1"/>
                </a:solidFill>
              </a:rPr>
              <a:t>Search and cancel flights</a:t>
            </a:r>
            <a:endParaRPr lang="en-US" sz="1400" dirty="0"/>
          </a:p>
          <a:p>
            <a:pPr marL="342900" indent="-342900">
              <a:spcAft>
                <a:spcPts val="600"/>
              </a:spcAft>
              <a:buSzPct val="100000"/>
              <a:buChar char="•"/>
            </a:pPr>
            <a:r>
              <a:rPr lang="en-US" sz="1400" dirty="0">
                <a:solidFill>
                  <a:schemeClr val="tx1"/>
                </a:solidFill>
              </a:rPr>
              <a:t>Records of completed flights</a:t>
            </a:r>
            <a:endParaRPr lang="en-US" sz="1400" dirty="0"/>
          </a:p>
          <a:p>
            <a:pPr marL="342900" indent="-342900">
              <a:spcAft>
                <a:spcPts val="600"/>
              </a:spcAft>
              <a:buSzPct val="100000"/>
              <a:buChar char="•"/>
            </a:pPr>
            <a:r>
              <a:rPr lang="en-US" sz="1400" dirty="0">
                <a:solidFill>
                  <a:schemeClr val="tx1"/>
                </a:solidFill>
              </a:rPr>
              <a:t>Live airport status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System Design &amp; Pipeline</a:t>
            </a:r>
            <a:endParaRPr lang="en-US" sz="3000" dirty="0"/>
          </a:p>
        </p:txBody>
      </p:sp>
      <p:sp>
        <p:nvSpPr>
          <p:cNvPr id="3" name="Input card"/>
          <p:cNvSpPr/>
          <p:nvPr/>
        </p:nvSpPr>
        <p:spPr>
          <a:xfrm>
            <a:off x="457200" y="1188720"/>
            <a:ext cx="1783080" cy="2423160"/>
          </a:xfrm>
          <a:prstGeom prst="roundRect">
            <a:avLst>
              <a:gd name="adj" fmla="val 615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4" name="Input circle"/>
          <p:cNvSpPr/>
          <p:nvPr/>
        </p:nvSpPr>
        <p:spPr>
          <a:xfrm>
            <a:off x="1074420" y="132588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5" name="Input icon" descr="Input"/>
          <p:cNvPicPr>
            <a:picLocks noChangeAspect="1"/>
          </p:cNvPicPr>
          <p:nvPr/>
        </p:nvPicPr>
        <p:blipFill>
          <a:blip r:embed="rId3"/>
          <a:stretch>
            <a:fillRect/>
          </a:stretch>
        </p:blipFill>
        <p:spPr>
          <a:xfrm>
            <a:off x="1211580" y="1463040"/>
            <a:ext cx="274320" cy="274320"/>
          </a:xfrm>
          <a:prstGeom prst="rect">
            <a:avLst/>
          </a:prstGeom>
        </p:spPr>
      </p:pic>
      <p:sp>
        <p:nvSpPr>
          <p:cNvPr id="6" name="Text 3"/>
          <p:cNvSpPr txBox="1"/>
          <p:nvPr/>
        </p:nvSpPr>
        <p:spPr>
          <a:xfrm>
            <a:off x="548640" y="1965960"/>
            <a:ext cx="1600200" cy="365760"/>
          </a:xfrm>
          <a:prstGeom prst="rect">
            <a:avLst/>
          </a:prstGeom>
          <a:noFill/>
          <a:ln/>
        </p:spPr>
        <p:txBody>
          <a:bodyPr wrap="square" lIns="0" tIns="0" rIns="0" bIns="0" rtlCol="0" anchor="ctr"/>
          <a:lstStyle/>
          <a:p>
            <a:pPr marL="0" indent="0" algn="ctr">
              <a:buNone/>
            </a:pPr>
            <a:r>
              <a:rPr lang="en-US" sz="1600" b="1" dirty="0">
                <a:solidFill>
                  <a:schemeClr val="tx1"/>
                </a:solidFill>
              </a:rPr>
              <a:t>Input</a:t>
            </a:r>
            <a:endParaRPr lang="en-US" sz="1600" dirty="0"/>
          </a:p>
        </p:txBody>
      </p:sp>
      <p:sp>
        <p:nvSpPr>
          <p:cNvPr id="7" name="Text 4"/>
          <p:cNvSpPr txBox="1"/>
          <p:nvPr/>
        </p:nvSpPr>
        <p:spPr>
          <a:xfrm>
            <a:off x="594360" y="2377440"/>
            <a:ext cx="1508760" cy="1097280"/>
          </a:xfrm>
          <a:prstGeom prst="rect">
            <a:avLst/>
          </a:prstGeom>
          <a:noFill/>
          <a:ln/>
        </p:spPr>
        <p:txBody>
          <a:bodyPr wrap="square" lIns="0" tIns="0" rIns="0" bIns="0" rtlCol="0" anchor="t"/>
          <a:lstStyle/>
          <a:p>
            <a:pPr marL="0" indent="0" algn="ctr">
              <a:buNone/>
            </a:pPr>
            <a:r>
              <a:rPr lang="en-US" sz="1400" dirty="0">
                <a:solidFill>
                  <a:schemeClr val="tx1"/>
                </a:solidFill>
              </a:rPr>
              <a:t>User picks a menu option and enters flight number and name</a:t>
            </a:r>
            <a:endParaRPr lang="en-US" sz="1400" dirty="0"/>
          </a:p>
        </p:txBody>
      </p:sp>
      <p:sp>
        <p:nvSpPr>
          <p:cNvPr id="8" name="Input tag"/>
          <p:cNvSpPr txBox="1"/>
          <p:nvPr/>
        </p:nvSpPr>
        <p:spPr>
          <a:xfrm>
            <a:off x="457200" y="3886200"/>
            <a:ext cx="1783080" cy="594360"/>
          </a:xfrm>
          <a:prstGeom prst="roundRect">
            <a:avLst>
              <a:gd name="adj" fmla="val 15385"/>
            </a:avLst>
          </a:prstGeom>
          <a:solidFill>
            <a:schemeClr val="accent1"/>
          </a:solidFill>
          <a:ln/>
        </p:spPr>
        <p:txBody>
          <a:bodyPr wrap="square" rtlCol="0" anchor="ctr"/>
          <a:lstStyle/>
          <a:p>
            <a:pPr marL="0" indent="0" algn="ctr">
              <a:buNone/>
            </a:pPr>
            <a:r>
              <a:rPr lang="en-US" sz="1300" b="1" dirty="0">
                <a:solidFill>
                  <a:schemeClr val="bg1"/>
                </a:solidFill>
              </a:rPr>
              <a:t>Flight struct</a:t>
            </a:r>
            <a:endParaRPr lang="en-US" sz="1300" dirty="0"/>
          </a:p>
        </p:txBody>
      </p:sp>
      <p:sp>
        <p:nvSpPr>
          <p:cNvPr id="9" name="Arrow 1"/>
          <p:cNvSpPr/>
          <p:nvPr/>
        </p:nvSpPr>
        <p:spPr>
          <a:xfrm>
            <a:off x="2258568" y="2395728"/>
            <a:ext cx="329184" cy="0"/>
          </a:xfrm>
          <a:prstGeom prst="line">
            <a:avLst/>
          </a:prstGeom>
          <a:noFill/>
          <a:ln w="22225">
            <a:solidFill>
              <a:schemeClr val="tx2"/>
            </a:solidFill>
            <a:prstDash val="solid"/>
            <a:tailEnd type="triangle"/>
          </a:ln>
        </p:spPr>
        <p:txBody>
          <a:bodyPr/>
          <a:lstStyle/>
          <a:p>
            <a:endParaRPr lang="en-IN"/>
          </a:p>
        </p:txBody>
      </p:sp>
      <p:sp>
        <p:nvSpPr>
          <p:cNvPr id="10" name="Processing card"/>
          <p:cNvSpPr/>
          <p:nvPr/>
        </p:nvSpPr>
        <p:spPr>
          <a:xfrm>
            <a:off x="2606040" y="1188720"/>
            <a:ext cx="1783080" cy="2423160"/>
          </a:xfrm>
          <a:prstGeom prst="roundRect">
            <a:avLst>
              <a:gd name="adj" fmla="val 615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1" name="Processing circle"/>
          <p:cNvSpPr/>
          <p:nvPr/>
        </p:nvSpPr>
        <p:spPr>
          <a:xfrm>
            <a:off x="3223260" y="1325880"/>
            <a:ext cx="548640" cy="548640"/>
          </a:xfrm>
          <a:prstGeom prst="ellipse">
            <a:avLst/>
          </a:prstGeom>
          <a:solidFill>
            <a:schemeClr val="accent2"/>
          </a:solidFill>
          <a:ln w="12700">
            <a:solidFill>
              <a:schemeClr val="accent2"/>
            </a:solidFill>
            <a:prstDash val="solid"/>
          </a:ln>
        </p:spPr>
        <p:txBody>
          <a:bodyPr/>
          <a:lstStyle/>
          <a:p>
            <a:endParaRPr lang="en-IN"/>
          </a:p>
        </p:txBody>
      </p:sp>
      <p:pic>
        <p:nvPicPr>
          <p:cNvPr id="12" name="Processing icon" descr="Processing"/>
          <p:cNvPicPr>
            <a:picLocks noChangeAspect="1"/>
          </p:cNvPicPr>
          <p:nvPr/>
        </p:nvPicPr>
        <p:blipFill>
          <a:blip r:embed="rId4"/>
          <a:stretch>
            <a:fillRect/>
          </a:stretch>
        </p:blipFill>
        <p:spPr>
          <a:xfrm>
            <a:off x="3360420" y="1463040"/>
            <a:ext cx="274320" cy="274320"/>
          </a:xfrm>
          <a:prstGeom prst="rect">
            <a:avLst/>
          </a:prstGeom>
        </p:spPr>
      </p:pic>
      <p:sp>
        <p:nvSpPr>
          <p:cNvPr id="13" name="Text 9"/>
          <p:cNvSpPr txBox="1"/>
          <p:nvPr/>
        </p:nvSpPr>
        <p:spPr>
          <a:xfrm>
            <a:off x="2697480" y="1965960"/>
            <a:ext cx="1600200" cy="365760"/>
          </a:xfrm>
          <a:prstGeom prst="rect">
            <a:avLst/>
          </a:prstGeom>
          <a:noFill/>
          <a:ln/>
        </p:spPr>
        <p:txBody>
          <a:bodyPr wrap="square" lIns="0" tIns="0" rIns="0" bIns="0" rtlCol="0" anchor="ctr"/>
          <a:lstStyle/>
          <a:p>
            <a:pPr marL="0" indent="0" algn="ctr">
              <a:buNone/>
            </a:pPr>
            <a:r>
              <a:rPr lang="en-US" sz="1600" b="1" dirty="0">
                <a:solidFill>
                  <a:schemeClr val="tx1"/>
                </a:solidFill>
              </a:rPr>
              <a:t>Processing</a:t>
            </a:r>
            <a:endParaRPr lang="en-US" sz="1600" dirty="0"/>
          </a:p>
        </p:txBody>
      </p:sp>
      <p:sp>
        <p:nvSpPr>
          <p:cNvPr id="14" name="Text 10"/>
          <p:cNvSpPr txBox="1"/>
          <p:nvPr/>
        </p:nvSpPr>
        <p:spPr>
          <a:xfrm>
            <a:off x="2743200" y="2377440"/>
            <a:ext cx="1508760" cy="1097280"/>
          </a:xfrm>
          <a:prstGeom prst="rect">
            <a:avLst/>
          </a:prstGeom>
          <a:noFill/>
          <a:ln/>
        </p:spPr>
        <p:txBody>
          <a:bodyPr wrap="square" lIns="0" tIns="0" rIns="0" bIns="0" rtlCol="0" anchor="t"/>
          <a:lstStyle/>
          <a:p>
            <a:pPr marL="0" indent="0" algn="ctr">
              <a:buNone/>
            </a:pPr>
            <a:r>
              <a:rPr lang="en-US" sz="1400" dirty="0">
                <a:solidFill>
                  <a:schemeClr val="tx1"/>
                </a:solidFill>
              </a:rPr>
              <a:t>Flight is classified as Normal or Emergency, then queued</a:t>
            </a:r>
            <a:endParaRPr lang="en-US" sz="1400" dirty="0"/>
          </a:p>
        </p:txBody>
      </p:sp>
      <p:sp>
        <p:nvSpPr>
          <p:cNvPr id="15" name="Processing tag"/>
          <p:cNvSpPr txBox="1"/>
          <p:nvPr/>
        </p:nvSpPr>
        <p:spPr>
          <a:xfrm>
            <a:off x="2606040" y="3886200"/>
            <a:ext cx="1783080" cy="594360"/>
          </a:xfrm>
          <a:prstGeom prst="roundRect">
            <a:avLst>
              <a:gd name="adj" fmla="val 15385"/>
            </a:avLst>
          </a:prstGeom>
          <a:solidFill>
            <a:schemeClr val="accent2"/>
          </a:solidFill>
          <a:ln/>
        </p:spPr>
        <p:txBody>
          <a:bodyPr wrap="square" rtlCol="0" anchor="ctr"/>
          <a:lstStyle/>
          <a:p>
            <a:pPr marL="0" indent="0" algn="ctr">
              <a:buNone/>
            </a:pPr>
            <a:r>
              <a:rPr lang="en-US" sz="1300" b="1" dirty="0">
                <a:solidFill>
                  <a:schemeClr val="bg1"/>
                </a:solidFill>
              </a:rPr>
              <a:t>Queue &amp; Priority Queue</a:t>
            </a:r>
            <a:endParaRPr lang="en-US" sz="1300" dirty="0"/>
          </a:p>
        </p:txBody>
      </p:sp>
      <p:sp>
        <p:nvSpPr>
          <p:cNvPr id="16" name="Arrow 2"/>
          <p:cNvSpPr/>
          <p:nvPr/>
        </p:nvSpPr>
        <p:spPr>
          <a:xfrm>
            <a:off x="4407408" y="2395728"/>
            <a:ext cx="329184" cy="0"/>
          </a:xfrm>
          <a:prstGeom prst="line">
            <a:avLst/>
          </a:prstGeom>
          <a:noFill/>
          <a:ln w="22225">
            <a:solidFill>
              <a:schemeClr val="tx2"/>
            </a:solidFill>
            <a:prstDash val="solid"/>
            <a:tailEnd type="triangle"/>
          </a:ln>
        </p:spPr>
        <p:txBody>
          <a:bodyPr/>
          <a:lstStyle/>
          <a:p>
            <a:endParaRPr lang="en-IN"/>
          </a:p>
        </p:txBody>
      </p:sp>
      <p:sp>
        <p:nvSpPr>
          <p:cNvPr id="17" name="Runway Allocation card"/>
          <p:cNvSpPr/>
          <p:nvPr/>
        </p:nvSpPr>
        <p:spPr>
          <a:xfrm>
            <a:off x="4754880" y="1188720"/>
            <a:ext cx="1783080" cy="2423160"/>
          </a:xfrm>
          <a:prstGeom prst="roundRect">
            <a:avLst>
              <a:gd name="adj" fmla="val 615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8" name="Runway Allocation circle"/>
          <p:cNvSpPr/>
          <p:nvPr/>
        </p:nvSpPr>
        <p:spPr>
          <a:xfrm>
            <a:off x="5372100" y="1325880"/>
            <a:ext cx="548640" cy="548640"/>
          </a:xfrm>
          <a:prstGeom prst="ellipse">
            <a:avLst/>
          </a:prstGeom>
          <a:solidFill>
            <a:schemeClr val="accent3"/>
          </a:solidFill>
          <a:ln w="12700">
            <a:solidFill>
              <a:schemeClr val="accent3"/>
            </a:solidFill>
            <a:prstDash val="solid"/>
          </a:ln>
        </p:spPr>
        <p:txBody>
          <a:bodyPr/>
          <a:lstStyle/>
          <a:p>
            <a:endParaRPr lang="en-IN"/>
          </a:p>
        </p:txBody>
      </p:sp>
      <p:pic>
        <p:nvPicPr>
          <p:cNvPr id="19" name="Runway Allocation icon" descr="Runway Allocation"/>
          <p:cNvPicPr>
            <a:picLocks noChangeAspect="1"/>
          </p:cNvPicPr>
          <p:nvPr/>
        </p:nvPicPr>
        <p:blipFill>
          <a:blip r:embed="rId5"/>
          <a:stretch>
            <a:fillRect/>
          </a:stretch>
        </p:blipFill>
        <p:spPr>
          <a:xfrm>
            <a:off x="5509260" y="1463040"/>
            <a:ext cx="274320" cy="274320"/>
          </a:xfrm>
          <a:prstGeom prst="rect">
            <a:avLst/>
          </a:prstGeom>
        </p:spPr>
      </p:pic>
      <p:sp>
        <p:nvSpPr>
          <p:cNvPr id="20" name="Text 15"/>
          <p:cNvSpPr txBox="1"/>
          <p:nvPr/>
        </p:nvSpPr>
        <p:spPr>
          <a:xfrm>
            <a:off x="4846320" y="1965960"/>
            <a:ext cx="1600200" cy="365760"/>
          </a:xfrm>
          <a:prstGeom prst="rect">
            <a:avLst/>
          </a:prstGeom>
          <a:noFill/>
          <a:ln/>
        </p:spPr>
        <p:txBody>
          <a:bodyPr wrap="square" lIns="0" tIns="0" rIns="0" bIns="0" rtlCol="0" anchor="ctr"/>
          <a:lstStyle/>
          <a:p>
            <a:pPr marL="0" indent="0" algn="ctr">
              <a:buNone/>
            </a:pPr>
            <a:r>
              <a:rPr lang="en-US" sz="1600" b="1" dirty="0">
                <a:solidFill>
                  <a:schemeClr val="tx1"/>
                </a:solidFill>
              </a:rPr>
              <a:t>Runway Allocation</a:t>
            </a:r>
            <a:endParaRPr lang="en-US" sz="1600" dirty="0"/>
          </a:p>
        </p:txBody>
      </p:sp>
      <p:sp>
        <p:nvSpPr>
          <p:cNvPr id="21" name="Text 16"/>
          <p:cNvSpPr txBox="1"/>
          <p:nvPr/>
        </p:nvSpPr>
        <p:spPr>
          <a:xfrm>
            <a:off x="4892040" y="2377440"/>
            <a:ext cx="1508760" cy="1097280"/>
          </a:xfrm>
          <a:prstGeom prst="rect">
            <a:avLst/>
          </a:prstGeom>
          <a:noFill/>
          <a:ln/>
        </p:spPr>
        <p:txBody>
          <a:bodyPr wrap="square" lIns="0" tIns="0" rIns="0" bIns="0" rtlCol="0" anchor="t"/>
          <a:lstStyle/>
          <a:p>
            <a:pPr marL="0" indent="0" algn="ctr">
              <a:buNone/>
            </a:pPr>
            <a:r>
              <a:rPr lang="en-US" sz="1400" dirty="0">
                <a:solidFill>
                  <a:schemeClr val="tx1"/>
                </a:solidFill>
              </a:rPr>
              <a:t>First free runway out of 3 is assigned</a:t>
            </a:r>
            <a:endParaRPr lang="en-US" sz="1400" dirty="0"/>
          </a:p>
        </p:txBody>
      </p:sp>
      <p:sp>
        <p:nvSpPr>
          <p:cNvPr id="22" name="Runway Allocation tag"/>
          <p:cNvSpPr txBox="1"/>
          <p:nvPr/>
        </p:nvSpPr>
        <p:spPr>
          <a:xfrm>
            <a:off x="4754880" y="3886200"/>
            <a:ext cx="1783080" cy="594360"/>
          </a:xfrm>
          <a:prstGeom prst="roundRect">
            <a:avLst>
              <a:gd name="adj" fmla="val 15385"/>
            </a:avLst>
          </a:prstGeom>
          <a:solidFill>
            <a:schemeClr val="accent3"/>
          </a:solidFill>
          <a:ln/>
        </p:spPr>
        <p:txBody>
          <a:bodyPr wrap="square" rtlCol="0" anchor="ctr"/>
          <a:lstStyle/>
          <a:p>
            <a:pPr marL="0" indent="0" algn="ctr">
              <a:buNone/>
            </a:pPr>
            <a:r>
              <a:rPr lang="en-US" sz="1300" b="1" dirty="0">
                <a:solidFill>
                  <a:schemeClr val="bg1"/>
                </a:solidFill>
              </a:rPr>
              <a:t>Array</a:t>
            </a:r>
            <a:endParaRPr lang="en-US" sz="1300" dirty="0"/>
          </a:p>
        </p:txBody>
      </p:sp>
      <p:sp>
        <p:nvSpPr>
          <p:cNvPr id="23" name="Arrow 3"/>
          <p:cNvSpPr/>
          <p:nvPr/>
        </p:nvSpPr>
        <p:spPr>
          <a:xfrm>
            <a:off x="6556248" y="2395728"/>
            <a:ext cx="329184" cy="0"/>
          </a:xfrm>
          <a:prstGeom prst="line">
            <a:avLst/>
          </a:prstGeom>
          <a:noFill/>
          <a:ln w="22225">
            <a:solidFill>
              <a:schemeClr val="tx2"/>
            </a:solidFill>
            <a:prstDash val="solid"/>
            <a:tailEnd type="triangle"/>
          </a:ln>
        </p:spPr>
        <p:txBody>
          <a:bodyPr/>
          <a:lstStyle/>
          <a:p>
            <a:endParaRPr lang="en-IN"/>
          </a:p>
        </p:txBody>
      </p:sp>
      <p:sp>
        <p:nvSpPr>
          <p:cNvPr id="24" name="Output card"/>
          <p:cNvSpPr/>
          <p:nvPr/>
        </p:nvSpPr>
        <p:spPr>
          <a:xfrm>
            <a:off x="6903720" y="1188720"/>
            <a:ext cx="1783080" cy="2423160"/>
          </a:xfrm>
          <a:prstGeom prst="roundRect">
            <a:avLst>
              <a:gd name="adj" fmla="val 6154"/>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25" name="Output circle"/>
          <p:cNvSpPr/>
          <p:nvPr/>
        </p:nvSpPr>
        <p:spPr>
          <a:xfrm>
            <a:off x="7520940" y="1325880"/>
            <a:ext cx="548640" cy="548640"/>
          </a:xfrm>
          <a:prstGeom prst="ellipse">
            <a:avLst/>
          </a:prstGeom>
          <a:solidFill>
            <a:schemeClr val="accent4"/>
          </a:solidFill>
          <a:ln w="12700">
            <a:solidFill>
              <a:schemeClr val="accent4"/>
            </a:solidFill>
            <a:prstDash val="solid"/>
          </a:ln>
        </p:spPr>
        <p:txBody>
          <a:bodyPr/>
          <a:lstStyle/>
          <a:p>
            <a:endParaRPr lang="en-IN"/>
          </a:p>
        </p:txBody>
      </p:sp>
      <p:pic>
        <p:nvPicPr>
          <p:cNvPr id="26" name="Output icon" descr="Output"/>
          <p:cNvPicPr>
            <a:picLocks noChangeAspect="1"/>
          </p:cNvPicPr>
          <p:nvPr/>
        </p:nvPicPr>
        <p:blipFill>
          <a:blip r:embed="rId6"/>
          <a:stretch>
            <a:fillRect/>
          </a:stretch>
        </p:blipFill>
        <p:spPr>
          <a:xfrm>
            <a:off x="7658100" y="1463040"/>
            <a:ext cx="274320" cy="274320"/>
          </a:xfrm>
          <a:prstGeom prst="rect">
            <a:avLst/>
          </a:prstGeom>
        </p:spPr>
      </p:pic>
      <p:sp>
        <p:nvSpPr>
          <p:cNvPr id="27" name="Text 21"/>
          <p:cNvSpPr txBox="1"/>
          <p:nvPr/>
        </p:nvSpPr>
        <p:spPr>
          <a:xfrm>
            <a:off x="6995160" y="1965960"/>
            <a:ext cx="1600200" cy="365760"/>
          </a:xfrm>
          <a:prstGeom prst="rect">
            <a:avLst/>
          </a:prstGeom>
          <a:noFill/>
          <a:ln/>
        </p:spPr>
        <p:txBody>
          <a:bodyPr wrap="square" lIns="0" tIns="0" rIns="0" bIns="0" rtlCol="0" anchor="ctr"/>
          <a:lstStyle/>
          <a:p>
            <a:pPr marL="0" indent="0" algn="ctr">
              <a:buNone/>
            </a:pPr>
            <a:r>
              <a:rPr lang="en-US" sz="1600" b="1" dirty="0">
                <a:solidFill>
                  <a:schemeClr val="tx1"/>
                </a:solidFill>
              </a:rPr>
              <a:t>Output</a:t>
            </a:r>
            <a:endParaRPr lang="en-US" sz="1600" dirty="0"/>
          </a:p>
        </p:txBody>
      </p:sp>
      <p:sp>
        <p:nvSpPr>
          <p:cNvPr id="28" name="Text 22"/>
          <p:cNvSpPr txBox="1"/>
          <p:nvPr/>
        </p:nvSpPr>
        <p:spPr>
          <a:xfrm>
            <a:off x="7040880" y="2377440"/>
            <a:ext cx="1508760" cy="1097280"/>
          </a:xfrm>
          <a:prstGeom prst="rect">
            <a:avLst/>
          </a:prstGeom>
          <a:noFill/>
          <a:ln/>
        </p:spPr>
        <p:txBody>
          <a:bodyPr wrap="square" lIns="0" tIns="0" rIns="0" bIns="0" rtlCol="0" anchor="t"/>
          <a:lstStyle/>
          <a:p>
            <a:pPr marL="0" indent="0" algn="ctr">
              <a:buNone/>
            </a:pPr>
            <a:r>
              <a:rPr lang="en-US" sz="1400" dirty="0">
                <a:solidFill>
                  <a:schemeClr val="tx1"/>
                </a:solidFill>
              </a:rPr>
              <a:t>Details are shown and the flight is saved</a:t>
            </a:r>
            <a:endParaRPr lang="en-US" sz="1400" dirty="0"/>
          </a:p>
        </p:txBody>
      </p:sp>
      <p:sp>
        <p:nvSpPr>
          <p:cNvPr id="29" name="Output tag"/>
          <p:cNvSpPr txBox="1"/>
          <p:nvPr/>
        </p:nvSpPr>
        <p:spPr>
          <a:xfrm>
            <a:off x="6903720" y="3886200"/>
            <a:ext cx="1783080" cy="594360"/>
          </a:xfrm>
          <a:prstGeom prst="roundRect">
            <a:avLst>
              <a:gd name="adj" fmla="val 15385"/>
            </a:avLst>
          </a:prstGeom>
          <a:solidFill>
            <a:schemeClr val="accent4"/>
          </a:solidFill>
          <a:ln/>
        </p:spPr>
        <p:txBody>
          <a:bodyPr wrap="square" rtlCol="0" anchor="ctr"/>
          <a:lstStyle/>
          <a:p>
            <a:pPr marL="0" indent="0" algn="ctr">
              <a:buNone/>
            </a:pPr>
            <a:r>
              <a:rPr lang="en-US" sz="1300" b="1" dirty="0">
                <a:solidFill>
                  <a:schemeClr val="bg1"/>
                </a:solidFill>
              </a:rPr>
              <a:t>Linked List</a:t>
            </a:r>
            <a:endParaRPr lang="en-US" sz="1300" dirty="0"/>
          </a:p>
        </p:txBody>
      </p:sp>
      <p:sp>
        <p:nvSpPr>
          <p:cNvPr id="30"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Data Structures Used</a:t>
            </a:r>
            <a:endParaRPr lang="en-US" sz="3000" dirty="0"/>
          </a:p>
        </p:txBody>
      </p:sp>
      <p:sp>
        <p:nvSpPr>
          <p:cNvPr id="3" name="Queue card"/>
          <p:cNvSpPr/>
          <p:nvPr/>
        </p:nvSpPr>
        <p:spPr>
          <a:xfrm>
            <a:off x="457200" y="1188720"/>
            <a:ext cx="4023360" cy="1554480"/>
          </a:xfrm>
          <a:prstGeom prst="roundRect">
            <a:avLst>
              <a:gd name="adj" fmla="val 705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4" name="Queue circle"/>
          <p:cNvSpPr/>
          <p:nvPr/>
        </p:nvSpPr>
        <p:spPr>
          <a:xfrm>
            <a:off x="685800" y="1645920"/>
            <a:ext cx="640080" cy="640080"/>
          </a:xfrm>
          <a:prstGeom prst="ellipse">
            <a:avLst/>
          </a:prstGeom>
          <a:solidFill>
            <a:schemeClr val="accent1"/>
          </a:solidFill>
          <a:ln w="12700">
            <a:solidFill>
              <a:schemeClr val="accent1"/>
            </a:solidFill>
            <a:prstDash val="solid"/>
          </a:ln>
        </p:spPr>
        <p:txBody>
          <a:bodyPr/>
          <a:lstStyle/>
          <a:p>
            <a:endParaRPr lang="en-IN"/>
          </a:p>
        </p:txBody>
      </p:sp>
      <p:pic>
        <p:nvPicPr>
          <p:cNvPr id="5" name="Queue icon" descr="Queue"/>
          <p:cNvPicPr>
            <a:picLocks noChangeAspect="1"/>
          </p:cNvPicPr>
          <p:nvPr/>
        </p:nvPicPr>
        <p:blipFill>
          <a:blip r:embed="rId3"/>
          <a:stretch>
            <a:fillRect/>
          </a:stretch>
        </p:blipFill>
        <p:spPr>
          <a:xfrm>
            <a:off x="845820" y="1805940"/>
            <a:ext cx="320040" cy="320040"/>
          </a:xfrm>
          <a:prstGeom prst="rect">
            <a:avLst/>
          </a:prstGeom>
        </p:spPr>
      </p:pic>
      <p:sp>
        <p:nvSpPr>
          <p:cNvPr id="6" name="Text 3"/>
          <p:cNvSpPr txBox="1"/>
          <p:nvPr/>
        </p:nvSpPr>
        <p:spPr>
          <a:xfrm>
            <a:off x="1554480" y="137160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Queue</a:t>
            </a:r>
            <a:endParaRPr lang="en-US" sz="1800" dirty="0"/>
          </a:p>
        </p:txBody>
      </p:sp>
      <p:sp>
        <p:nvSpPr>
          <p:cNvPr id="7" name="Text 4"/>
          <p:cNvSpPr txBox="1"/>
          <p:nvPr/>
        </p:nvSpPr>
        <p:spPr>
          <a:xfrm>
            <a:off x="1554480" y="1783080"/>
            <a:ext cx="2788920" cy="365760"/>
          </a:xfrm>
          <a:prstGeom prst="rect">
            <a:avLst/>
          </a:prstGeom>
          <a:noFill/>
          <a:ln/>
        </p:spPr>
        <p:txBody>
          <a:bodyPr wrap="square" lIns="0" tIns="0" rIns="0" bIns="0" rtlCol="0" anchor="t"/>
          <a:lstStyle/>
          <a:p>
            <a:pPr marL="0" indent="0">
              <a:buNone/>
            </a:pPr>
            <a:r>
              <a:rPr lang="en-US" sz="1400" dirty="0">
                <a:solidFill>
                  <a:schemeClr val="tx1"/>
                </a:solidFill>
              </a:rPr>
              <a:t>Normal flights (FIFO)</a:t>
            </a:r>
            <a:endParaRPr lang="en-US" sz="1400" dirty="0"/>
          </a:p>
        </p:txBody>
      </p:sp>
      <p:sp>
        <p:nvSpPr>
          <p:cNvPr id="8" name="Text 5"/>
          <p:cNvSpPr txBox="1"/>
          <p:nvPr/>
        </p:nvSpPr>
        <p:spPr>
          <a:xfrm>
            <a:off x="1554480" y="2194560"/>
            <a:ext cx="2788920" cy="36576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normalQueue[10] | front, rear</a:t>
            </a:r>
            <a:endParaRPr lang="en-US" sz="1100" dirty="0"/>
          </a:p>
        </p:txBody>
      </p:sp>
      <p:sp>
        <p:nvSpPr>
          <p:cNvPr id="9" name="Priority Queue card"/>
          <p:cNvSpPr/>
          <p:nvPr/>
        </p:nvSpPr>
        <p:spPr>
          <a:xfrm>
            <a:off x="4663440" y="1188720"/>
            <a:ext cx="4023360" cy="1554480"/>
          </a:xfrm>
          <a:prstGeom prst="roundRect">
            <a:avLst>
              <a:gd name="adj" fmla="val 705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0" name="Priority Queue circle"/>
          <p:cNvSpPr/>
          <p:nvPr/>
        </p:nvSpPr>
        <p:spPr>
          <a:xfrm>
            <a:off x="4892040" y="1645920"/>
            <a:ext cx="640080" cy="640080"/>
          </a:xfrm>
          <a:prstGeom prst="ellipse">
            <a:avLst/>
          </a:prstGeom>
          <a:solidFill>
            <a:schemeClr val="accent2"/>
          </a:solidFill>
          <a:ln w="12700">
            <a:solidFill>
              <a:schemeClr val="accent2"/>
            </a:solidFill>
            <a:prstDash val="solid"/>
          </a:ln>
        </p:spPr>
        <p:txBody>
          <a:bodyPr/>
          <a:lstStyle/>
          <a:p>
            <a:endParaRPr lang="en-IN"/>
          </a:p>
        </p:txBody>
      </p:sp>
      <p:pic>
        <p:nvPicPr>
          <p:cNvPr id="11" name="Priority Queue icon" descr="Priority Queue"/>
          <p:cNvPicPr>
            <a:picLocks noChangeAspect="1"/>
          </p:cNvPicPr>
          <p:nvPr/>
        </p:nvPicPr>
        <p:blipFill>
          <a:blip r:embed="rId4"/>
          <a:stretch>
            <a:fillRect/>
          </a:stretch>
        </p:blipFill>
        <p:spPr>
          <a:xfrm>
            <a:off x="5052060" y="1805940"/>
            <a:ext cx="320040" cy="320040"/>
          </a:xfrm>
          <a:prstGeom prst="rect">
            <a:avLst/>
          </a:prstGeom>
        </p:spPr>
      </p:pic>
      <p:sp>
        <p:nvSpPr>
          <p:cNvPr id="12" name="Text 8"/>
          <p:cNvSpPr txBox="1"/>
          <p:nvPr/>
        </p:nvSpPr>
        <p:spPr>
          <a:xfrm>
            <a:off x="5760720" y="137160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Priority Queue</a:t>
            </a:r>
            <a:endParaRPr lang="en-US" sz="1800" dirty="0"/>
          </a:p>
        </p:txBody>
      </p:sp>
      <p:sp>
        <p:nvSpPr>
          <p:cNvPr id="13" name="Text 9"/>
          <p:cNvSpPr txBox="1"/>
          <p:nvPr/>
        </p:nvSpPr>
        <p:spPr>
          <a:xfrm>
            <a:off x="5760720" y="1783080"/>
            <a:ext cx="2788920" cy="365760"/>
          </a:xfrm>
          <a:prstGeom prst="rect">
            <a:avLst/>
          </a:prstGeom>
          <a:noFill/>
          <a:ln/>
        </p:spPr>
        <p:txBody>
          <a:bodyPr wrap="square" lIns="0" tIns="0" rIns="0" bIns="0" rtlCol="0" anchor="t"/>
          <a:lstStyle/>
          <a:p>
            <a:pPr marL="0" indent="0">
              <a:buNone/>
            </a:pPr>
            <a:r>
              <a:rPr lang="en-US" sz="1400" dirty="0">
                <a:solidFill>
                  <a:schemeClr val="tx1"/>
                </a:solidFill>
              </a:rPr>
              <a:t>Emergency flights (priority 10)</a:t>
            </a:r>
            <a:endParaRPr lang="en-US" sz="1400" dirty="0"/>
          </a:p>
        </p:txBody>
      </p:sp>
      <p:sp>
        <p:nvSpPr>
          <p:cNvPr id="14" name="Text 10"/>
          <p:cNvSpPr txBox="1"/>
          <p:nvPr/>
        </p:nvSpPr>
        <p:spPr>
          <a:xfrm>
            <a:off x="5760720" y="2194560"/>
            <a:ext cx="2788920" cy="36576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priorityQueue[10] | sorted</a:t>
            </a:r>
            <a:endParaRPr lang="en-US" sz="1100" dirty="0"/>
          </a:p>
        </p:txBody>
      </p:sp>
      <p:sp>
        <p:nvSpPr>
          <p:cNvPr id="15" name="Linked List card"/>
          <p:cNvSpPr/>
          <p:nvPr/>
        </p:nvSpPr>
        <p:spPr>
          <a:xfrm>
            <a:off x="457200" y="2926080"/>
            <a:ext cx="4023360" cy="1554480"/>
          </a:xfrm>
          <a:prstGeom prst="roundRect">
            <a:avLst>
              <a:gd name="adj" fmla="val 705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6" name="Linked List circle"/>
          <p:cNvSpPr/>
          <p:nvPr/>
        </p:nvSpPr>
        <p:spPr>
          <a:xfrm>
            <a:off x="685800" y="3383280"/>
            <a:ext cx="640080" cy="640080"/>
          </a:xfrm>
          <a:prstGeom prst="ellipse">
            <a:avLst/>
          </a:prstGeom>
          <a:solidFill>
            <a:schemeClr val="accent3"/>
          </a:solidFill>
          <a:ln w="12700">
            <a:solidFill>
              <a:schemeClr val="accent3"/>
            </a:solidFill>
            <a:prstDash val="solid"/>
          </a:ln>
        </p:spPr>
        <p:txBody>
          <a:bodyPr/>
          <a:lstStyle/>
          <a:p>
            <a:endParaRPr lang="en-IN"/>
          </a:p>
        </p:txBody>
      </p:sp>
      <p:pic>
        <p:nvPicPr>
          <p:cNvPr id="17" name="Linked List icon" descr="Linked List"/>
          <p:cNvPicPr>
            <a:picLocks noChangeAspect="1"/>
          </p:cNvPicPr>
          <p:nvPr/>
        </p:nvPicPr>
        <p:blipFill>
          <a:blip r:embed="rId5"/>
          <a:stretch>
            <a:fillRect/>
          </a:stretch>
        </p:blipFill>
        <p:spPr>
          <a:xfrm>
            <a:off x="845820" y="3543300"/>
            <a:ext cx="320040" cy="320040"/>
          </a:xfrm>
          <a:prstGeom prst="rect">
            <a:avLst/>
          </a:prstGeom>
        </p:spPr>
      </p:pic>
      <p:sp>
        <p:nvSpPr>
          <p:cNvPr id="18" name="Text 13"/>
          <p:cNvSpPr txBox="1"/>
          <p:nvPr/>
        </p:nvSpPr>
        <p:spPr>
          <a:xfrm>
            <a:off x="1554480" y="310896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Linked List</a:t>
            </a:r>
            <a:endParaRPr lang="en-US" sz="1800" dirty="0"/>
          </a:p>
        </p:txBody>
      </p:sp>
      <p:sp>
        <p:nvSpPr>
          <p:cNvPr id="19" name="Text 14"/>
          <p:cNvSpPr txBox="1"/>
          <p:nvPr/>
        </p:nvSpPr>
        <p:spPr>
          <a:xfrm>
            <a:off x="1554480" y="3520440"/>
            <a:ext cx="2788920" cy="365760"/>
          </a:xfrm>
          <a:prstGeom prst="rect">
            <a:avLst/>
          </a:prstGeom>
          <a:noFill/>
          <a:ln/>
        </p:spPr>
        <p:txBody>
          <a:bodyPr wrap="square" lIns="0" tIns="0" rIns="0" bIns="0" rtlCol="0" anchor="t"/>
          <a:lstStyle/>
          <a:p>
            <a:pPr marL="0" indent="0">
              <a:buNone/>
            </a:pPr>
            <a:r>
              <a:rPr lang="en-US" sz="1400" dirty="0">
                <a:solidFill>
                  <a:schemeClr val="tx1"/>
                </a:solidFill>
              </a:rPr>
              <a:t>Completed flight records</a:t>
            </a:r>
            <a:endParaRPr lang="en-US" sz="1400" dirty="0"/>
          </a:p>
        </p:txBody>
      </p:sp>
      <p:sp>
        <p:nvSpPr>
          <p:cNvPr id="20" name="Text 15"/>
          <p:cNvSpPr txBox="1"/>
          <p:nvPr/>
        </p:nvSpPr>
        <p:spPr>
          <a:xfrm>
            <a:off x="1554480" y="3931920"/>
            <a:ext cx="2788920" cy="36576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flightRecords | add at head</a:t>
            </a:r>
            <a:endParaRPr lang="en-US" sz="1100" dirty="0"/>
          </a:p>
        </p:txBody>
      </p:sp>
      <p:sp>
        <p:nvSpPr>
          <p:cNvPr id="21" name="Array card"/>
          <p:cNvSpPr/>
          <p:nvPr/>
        </p:nvSpPr>
        <p:spPr>
          <a:xfrm>
            <a:off x="4663440" y="2926080"/>
            <a:ext cx="4023360" cy="1554480"/>
          </a:xfrm>
          <a:prstGeom prst="roundRect">
            <a:avLst>
              <a:gd name="adj" fmla="val 705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22" name="Array circle"/>
          <p:cNvSpPr/>
          <p:nvPr/>
        </p:nvSpPr>
        <p:spPr>
          <a:xfrm>
            <a:off x="4892040" y="3383280"/>
            <a:ext cx="640080" cy="640080"/>
          </a:xfrm>
          <a:prstGeom prst="ellipse">
            <a:avLst/>
          </a:prstGeom>
          <a:solidFill>
            <a:schemeClr val="accent4"/>
          </a:solidFill>
          <a:ln w="12700">
            <a:solidFill>
              <a:schemeClr val="accent4"/>
            </a:solidFill>
            <a:prstDash val="solid"/>
          </a:ln>
        </p:spPr>
        <p:txBody>
          <a:bodyPr/>
          <a:lstStyle/>
          <a:p>
            <a:endParaRPr lang="en-IN"/>
          </a:p>
        </p:txBody>
      </p:sp>
      <p:pic>
        <p:nvPicPr>
          <p:cNvPr id="23" name="Array icon" descr="Array"/>
          <p:cNvPicPr>
            <a:picLocks noChangeAspect="1"/>
          </p:cNvPicPr>
          <p:nvPr/>
        </p:nvPicPr>
        <p:blipFill>
          <a:blip r:embed="rId6"/>
          <a:stretch>
            <a:fillRect/>
          </a:stretch>
        </p:blipFill>
        <p:spPr>
          <a:xfrm>
            <a:off x="5052060" y="3543300"/>
            <a:ext cx="320040" cy="320040"/>
          </a:xfrm>
          <a:prstGeom prst="rect">
            <a:avLst/>
          </a:prstGeom>
        </p:spPr>
      </p:pic>
      <p:sp>
        <p:nvSpPr>
          <p:cNvPr id="24" name="Text 18"/>
          <p:cNvSpPr txBox="1"/>
          <p:nvPr/>
        </p:nvSpPr>
        <p:spPr>
          <a:xfrm>
            <a:off x="5760720" y="3108960"/>
            <a:ext cx="2743200" cy="365760"/>
          </a:xfrm>
          <a:prstGeom prst="rect">
            <a:avLst/>
          </a:prstGeom>
          <a:noFill/>
          <a:ln/>
        </p:spPr>
        <p:txBody>
          <a:bodyPr wrap="square" lIns="0" tIns="0" rIns="0" bIns="0" rtlCol="0" anchor="ctr"/>
          <a:lstStyle/>
          <a:p>
            <a:pPr marL="0" indent="0">
              <a:buNone/>
            </a:pPr>
            <a:r>
              <a:rPr lang="en-US" sz="1800" b="1" dirty="0">
                <a:solidFill>
                  <a:schemeClr val="tx1"/>
                </a:solidFill>
              </a:rPr>
              <a:t>Array</a:t>
            </a:r>
            <a:endParaRPr lang="en-US" sz="1800" dirty="0"/>
          </a:p>
        </p:txBody>
      </p:sp>
      <p:sp>
        <p:nvSpPr>
          <p:cNvPr id="25" name="Text 19"/>
          <p:cNvSpPr txBox="1"/>
          <p:nvPr/>
        </p:nvSpPr>
        <p:spPr>
          <a:xfrm>
            <a:off x="5760720" y="3520440"/>
            <a:ext cx="2788920" cy="365760"/>
          </a:xfrm>
          <a:prstGeom prst="rect">
            <a:avLst/>
          </a:prstGeom>
          <a:noFill/>
          <a:ln/>
        </p:spPr>
        <p:txBody>
          <a:bodyPr wrap="square" lIns="0" tIns="0" rIns="0" bIns="0" rtlCol="0" anchor="t"/>
          <a:lstStyle/>
          <a:p>
            <a:pPr marL="0" indent="0">
              <a:buNone/>
            </a:pPr>
            <a:r>
              <a:rPr lang="en-US" sz="1400" dirty="0">
                <a:solidFill>
                  <a:schemeClr val="tx1"/>
                </a:solidFill>
              </a:rPr>
              <a:t>Runway status (0 = free, 1 = busy)</a:t>
            </a:r>
            <a:endParaRPr lang="en-US" sz="1400" dirty="0"/>
          </a:p>
        </p:txBody>
      </p:sp>
      <p:sp>
        <p:nvSpPr>
          <p:cNvPr id="26" name="Text 20"/>
          <p:cNvSpPr txBox="1"/>
          <p:nvPr/>
        </p:nvSpPr>
        <p:spPr>
          <a:xfrm>
            <a:off x="5760720" y="3931920"/>
            <a:ext cx="2788920" cy="36576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runwayStatus[3]</a:t>
            </a:r>
            <a:endParaRPr lang="en-US" sz="1100" dirty="0"/>
          </a:p>
        </p:txBody>
      </p:sp>
      <p:sp>
        <p:nvSpPr>
          <p:cNvPr id="27"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Why These Data Structures?</a:t>
            </a:r>
            <a:endParaRPr lang="en-US" sz="3000" dirty="0"/>
          </a:p>
        </p:txBody>
      </p:sp>
      <p:sp>
        <p:nvSpPr>
          <p:cNvPr id="3" name="Queue for normal flights card"/>
          <p:cNvSpPr/>
          <p:nvPr/>
        </p:nvSpPr>
        <p:spPr>
          <a:xfrm>
            <a:off x="457200" y="1188720"/>
            <a:ext cx="5029200" cy="1005840"/>
          </a:xfrm>
          <a:prstGeom prst="roundRect">
            <a:avLst>
              <a:gd name="adj" fmla="val 1090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4" name="Queue for normal flights circle"/>
          <p:cNvSpPr/>
          <p:nvPr/>
        </p:nvSpPr>
        <p:spPr>
          <a:xfrm>
            <a:off x="640080" y="1417320"/>
            <a:ext cx="548640" cy="548640"/>
          </a:xfrm>
          <a:prstGeom prst="ellipse">
            <a:avLst/>
          </a:prstGeom>
          <a:solidFill>
            <a:schemeClr val="accent1"/>
          </a:solidFill>
          <a:ln w="12700">
            <a:solidFill>
              <a:schemeClr val="accent1"/>
            </a:solidFill>
            <a:prstDash val="solid"/>
          </a:ln>
        </p:spPr>
        <p:txBody>
          <a:bodyPr/>
          <a:lstStyle/>
          <a:p>
            <a:endParaRPr lang="en-IN"/>
          </a:p>
        </p:txBody>
      </p:sp>
      <p:pic>
        <p:nvPicPr>
          <p:cNvPr id="5" name="Queue for normal flights icon" descr="Queue for normal flights"/>
          <p:cNvPicPr>
            <a:picLocks noChangeAspect="1"/>
          </p:cNvPicPr>
          <p:nvPr/>
        </p:nvPicPr>
        <p:blipFill>
          <a:blip r:embed="rId3"/>
          <a:stretch>
            <a:fillRect/>
          </a:stretch>
        </p:blipFill>
        <p:spPr>
          <a:xfrm>
            <a:off x="777240" y="1554480"/>
            <a:ext cx="274320" cy="274320"/>
          </a:xfrm>
          <a:prstGeom prst="rect">
            <a:avLst/>
          </a:prstGeom>
        </p:spPr>
      </p:pic>
      <p:sp>
        <p:nvSpPr>
          <p:cNvPr id="6" name="Text 3"/>
          <p:cNvSpPr txBox="1"/>
          <p:nvPr/>
        </p:nvSpPr>
        <p:spPr>
          <a:xfrm>
            <a:off x="1371600" y="1325880"/>
            <a:ext cx="4023360" cy="365760"/>
          </a:xfrm>
          <a:prstGeom prst="rect">
            <a:avLst/>
          </a:prstGeom>
          <a:noFill/>
          <a:ln/>
        </p:spPr>
        <p:txBody>
          <a:bodyPr wrap="square" lIns="0" tIns="0" rIns="0" bIns="0" rtlCol="0" anchor="ctr"/>
          <a:lstStyle/>
          <a:p>
            <a:pPr marL="0" indent="0">
              <a:buNone/>
            </a:pPr>
            <a:r>
              <a:rPr lang="en-US" sz="1600" b="1" dirty="0">
                <a:solidFill>
                  <a:schemeClr val="tx1"/>
                </a:solidFill>
              </a:rPr>
              <a:t>Queue for normal flights</a:t>
            </a:r>
            <a:endParaRPr lang="en-US" sz="1600" dirty="0"/>
          </a:p>
        </p:txBody>
      </p:sp>
      <p:sp>
        <p:nvSpPr>
          <p:cNvPr id="7" name="Text 4"/>
          <p:cNvSpPr txBox="1"/>
          <p:nvPr/>
        </p:nvSpPr>
        <p:spPr>
          <a:xfrm>
            <a:off x="1371600" y="1691640"/>
            <a:ext cx="4023360" cy="365760"/>
          </a:xfrm>
          <a:prstGeom prst="rect">
            <a:avLst/>
          </a:prstGeom>
          <a:noFill/>
          <a:ln/>
        </p:spPr>
        <p:txBody>
          <a:bodyPr wrap="square" lIns="0" tIns="0" rIns="0" bIns="0" rtlCol="0" anchor="t"/>
          <a:lstStyle/>
          <a:p>
            <a:pPr marL="0" indent="0">
              <a:buNone/>
            </a:pPr>
            <a:r>
              <a:rPr lang="en-US" sz="1400" dirty="0">
                <a:solidFill>
                  <a:schemeClr val="tx1"/>
                </a:solidFill>
              </a:rPr>
              <a:t>First come, first served: the fairest order</a:t>
            </a:r>
            <a:endParaRPr lang="en-US" sz="1400" dirty="0"/>
          </a:p>
        </p:txBody>
      </p:sp>
      <p:sp>
        <p:nvSpPr>
          <p:cNvPr id="8" name="Priority Queue for emergencies card"/>
          <p:cNvSpPr/>
          <p:nvPr/>
        </p:nvSpPr>
        <p:spPr>
          <a:xfrm>
            <a:off x="457200" y="2331720"/>
            <a:ext cx="5029200" cy="1005840"/>
          </a:xfrm>
          <a:prstGeom prst="roundRect">
            <a:avLst>
              <a:gd name="adj" fmla="val 1090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9" name="Priority Queue for emergencies circle"/>
          <p:cNvSpPr/>
          <p:nvPr/>
        </p:nvSpPr>
        <p:spPr>
          <a:xfrm>
            <a:off x="640080" y="2560320"/>
            <a:ext cx="548640" cy="548640"/>
          </a:xfrm>
          <a:prstGeom prst="ellipse">
            <a:avLst/>
          </a:prstGeom>
          <a:solidFill>
            <a:schemeClr val="accent2"/>
          </a:solidFill>
          <a:ln w="12700">
            <a:solidFill>
              <a:schemeClr val="accent2"/>
            </a:solidFill>
            <a:prstDash val="solid"/>
          </a:ln>
        </p:spPr>
        <p:txBody>
          <a:bodyPr/>
          <a:lstStyle/>
          <a:p>
            <a:endParaRPr lang="en-IN"/>
          </a:p>
        </p:txBody>
      </p:sp>
      <p:pic>
        <p:nvPicPr>
          <p:cNvPr id="10" name="Priority Queue for emergencies icon" descr="Priority Queue for emergencies"/>
          <p:cNvPicPr>
            <a:picLocks noChangeAspect="1"/>
          </p:cNvPicPr>
          <p:nvPr/>
        </p:nvPicPr>
        <p:blipFill>
          <a:blip r:embed="rId4"/>
          <a:stretch>
            <a:fillRect/>
          </a:stretch>
        </p:blipFill>
        <p:spPr>
          <a:xfrm>
            <a:off x="777240" y="2697480"/>
            <a:ext cx="274320" cy="274320"/>
          </a:xfrm>
          <a:prstGeom prst="rect">
            <a:avLst/>
          </a:prstGeom>
        </p:spPr>
      </p:pic>
      <p:sp>
        <p:nvSpPr>
          <p:cNvPr id="11" name="Text 7"/>
          <p:cNvSpPr txBox="1"/>
          <p:nvPr/>
        </p:nvSpPr>
        <p:spPr>
          <a:xfrm>
            <a:off x="1371600" y="2468880"/>
            <a:ext cx="4023360" cy="365760"/>
          </a:xfrm>
          <a:prstGeom prst="rect">
            <a:avLst/>
          </a:prstGeom>
          <a:noFill/>
          <a:ln/>
        </p:spPr>
        <p:txBody>
          <a:bodyPr wrap="square" lIns="0" tIns="0" rIns="0" bIns="0" rtlCol="0" anchor="ctr"/>
          <a:lstStyle/>
          <a:p>
            <a:pPr marL="0" indent="0">
              <a:buNone/>
            </a:pPr>
            <a:r>
              <a:rPr lang="en-US" sz="1600" b="1" dirty="0">
                <a:solidFill>
                  <a:schemeClr val="tx1"/>
                </a:solidFill>
              </a:rPr>
              <a:t>Priority Queue for emergencies</a:t>
            </a:r>
            <a:endParaRPr lang="en-US" sz="1600" dirty="0"/>
          </a:p>
        </p:txBody>
      </p:sp>
      <p:sp>
        <p:nvSpPr>
          <p:cNvPr id="12" name="Text 8"/>
          <p:cNvSpPr txBox="1"/>
          <p:nvPr/>
        </p:nvSpPr>
        <p:spPr>
          <a:xfrm>
            <a:off x="1371600" y="2834640"/>
            <a:ext cx="4023360" cy="365760"/>
          </a:xfrm>
          <a:prstGeom prst="rect">
            <a:avLst/>
          </a:prstGeom>
          <a:noFill/>
          <a:ln/>
        </p:spPr>
        <p:txBody>
          <a:bodyPr wrap="square" lIns="0" tIns="0" rIns="0" bIns="0" rtlCol="0" anchor="t"/>
          <a:lstStyle/>
          <a:p>
            <a:pPr marL="0" indent="0">
              <a:buNone/>
            </a:pPr>
            <a:r>
              <a:rPr lang="en-US" sz="1400" dirty="0">
                <a:solidFill>
                  <a:schemeClr val="tx1"/>
                </a:solidFill>
              </a:rPr>
              <a:t>Most urgent flight is always at the front</a:t>
            </a:r>
            <a:endParaRPr lang="en-US" sz="1400" dirty="0"/>
          </a:p>
        </p:txBody>
      </p:sp>
      <p:sp>
        <p:nvSpPr>
          <p:cNvPr id="13" name="Linked List for records card"/>
          <p:cNvSpPr/>
          <p:nvPr/>
        </p:nvSpPr>
        <p:spPr>
          <a:xfrm>
            <a:off x="457200" y="3474720"/>
            <a:ext cx="5029200" cy="1005840"/>
          </a:xfrm>
          <a:prstGeom prst="roundRect">
            <a:avLst>
              <a:gd name="adj" fmla="val 10909"/>
            </a:avLst>
          </a:prstGeom>
          <a:solidFill>
            <a:schemeClr val="bg2"/>
          </a:solidFill>
          <a:ln w="12700">
            <a:solidFill>
              <a:schemeClr val="bg2"/>
            </a:solidFill>
            <a:prstDash val="solid"/>
          </a:ln>
          <a:effectLst>
            <a:outerShdw blurRad="76200" dist="25400" dir="5400000" algn="bl" rotWithShape="0">
              <a:srgbClr val="000000">
                <a:alpha val="12000"/>
              </a:srgbClr>
            </a:outerShdw>
          </a:effectLst>
        </p:spPr>
        <p:txBody>
          <a:bodyPr/>
          <a:lstStyle/>
          <a:p>
            <a:endParaRPr lang="en-IN"/>
          </a:p>
        </p:txBody>
      </p:sp>
      <p:sp>
        <p:nvSpPr>
          <p:cNvPr id="14" name="Linked List for records circle"/>
          <p:cNvSpPr/>
          <p:nvPr/>
        </p:nvSpPr>
        <p:spPr>
          <a:xfrm>
            <a:off x="640080" y="3703320"/>
            <a:ext cx="548640" cy="548640"/>
          </a:xfrm>
          <a:prstGeom prst="ellipse">
            <a:avLst/>
          </a:prstGeom>
          <a:solidFill>
            <a:schemeClr val="accent3"/>
          </a:solidFill>
          <a:ln w="12700">
            <a:solidFill>
              <a:schemeClr val="accent3"/>
            </a:solidFill>
            <a:prstDash val="solid"/>
          </a:ln>
        </p:spPr>
        <p:txBody>
          <a:bodyPr/>
          <a:lstStyle/>
          <a:p>
            <a:endParaRPr lang="en-IN"/>
          </a:p>
        </p:txBody>
      </p:sp>
      <p:pic>
        <p:nvPicPr>
          <p:cNvPr id="15" name="Linked List for records icon" descr="Linked List for records"/>
          <p:cNvPicPr>
            <a:picLocks noChangeAspect="1"/>
          </p:cNvPicPr>
          <p:nvPr/>
        </p:nvPicPr>
        <p:blipFill>
          <a:blip r:embed="rId5"/>
          <a:stretch>
            <a:fillRect/>
          </a:stretch>
        </p:blipFill>
        <p:spPr>
          <a:xfrm>
            <a:off x="777240" y="3840480"/>
            <a:ext cx="274320" cy="274320"/>
          </a:xfrm>
          <a:prstGeom prst="rect">
            <a:avLst/>
          </a:prstGeom>
        </p:spPr>
      </p:pic>
      <p:sp>
        <p:nvSpPr>
          <p:cNvPr id="16" name="Text 11"/>
          <p:cNvSpPr txBox="1"/>
          <p:nvPr/>
        </p:nvSpPr>
        <p:spPr>
          <a:xfrm>
            <a:off x="1371600" y="3611880"/>
            <a:ext cx="4023360" cy="365760"/>
          </a:xfrm>
          <a:prstGeom prst="rect">
            <a:avLst/>
          </a:prstGeom>
          <a:noFill/>
          <a:ln/>
        </p:spPr>
        <p:txBody>
          <a:bodyPr wrap="square" lIns="0" tIns="0" rIns="0" bIns="0" rtlCol="0" anchor="ctr"/>
          <a:lstStyle/>
          <a:p>
            <a:pPr marL="0" indent="0">
              <a:buNone/>
            </a:pPr>
            <a:r>
              <a:rPr lang="en-US" sz="1600" b="1" dirty="0">
                <a:solidFill>
                  <a:schemeClr val="tx1"/>
                </a:solidFill>
              </a:rPr>
              <a:t>Linked List for records</a:t>
            </a:r>
            <a:endParaRPr lang="en-US" sz="1600" dirty="0"/>
          </a:p>
        </p:txBody>
      </p:sp>
      <p:sp>
        <p:nvSpPr>
          <p:cNvPr id="17" name="Text 12"/>
          <p:cNvSpPr txBox="1"/>
          <p:nvPr/>
        </p:nvSpPr>
        <p:spPr>
          <a:xfrm>
            <a:off x="1371600" y="3977640"/>
            <a:ext cx="4023360" cy="365760"/>
          </a:xfrm>
          <a:prstGeom prst="rect">
            <a:avLst/>
          </a:prstGeom>
          <a:noFill/>
          <a:ln/>
        </p:spPr>
        <p:txBody>
          <a:bodyPr wrap="square" lIns="0" tIns="0" rIns="0" bIns="0" rtlCol="0" anchor="t"/>
          <a:lstStyle/>
          <a:p>
            <a:pPr marL="0" indent="0">
              <a:buNone/>
            </a:pPr>
            <a:r>
              <a:rPr lang="en-US" sz="1400" dirty="0">
                <a:solidFill>
                  <a:schemeClr val="tx1"/>
                </a:solidFill>
              </a:rPr>
              <a:t>Grows as needed, adding at head is quick</a:t>
            </a:r>
            <a:endParaRPr lang="en-US" sz="1400" dirty="0"/>
          </a:p>
        </p:txBody>
      </p:sp>
      <p:sp>
        <p:nvSpPr>
          <p:cNvPr id="18" name="Problems panel"/>
          <p:cNvSpPr/>
          <p:nvPr/>
        </p:nvSpPr>
        <p:spPr>
          <a:xfrm>
            <a:off x="5760720" y="1188720"/>
            <a:ext cx="2926080" cy="3200400"/>
          </a:xfrm>
          <a:prstGeom prst="roundRect">
            <a:avLst>
              <a:gd name="adj" fmla="val 3750"/>
            </a:avLst>
          </a:prstGeom>
          <a:solidFill>
            <a:schemeClr val="tx1"/>
          </a:solidFill>
          <a:ln w="12700">
            <a:solidFill>
              <a:schemeClr val="tx1"/>
            </a:solidFill>
            <a:prstDash val="solid"/>
          </a:ln>
        </p:spPr>
        <p:txBody>
          <a:bodyPr/>
          <a:lstStyle/>
          <a:p>
            <a:endParaRPr lang="en-IN"/>
          </a:p>
        </p:txBody>
      </p:sp>
      <p:sp>
        <p:nvSpPr>
          <p:cNvPr id="19" name="Text 14"/>
          <p:cNvSpPr txBox="1"/>
          <p:nvPr/>
        </p:nvSpPr>
        <p:spPr>
          <a:xfrm>
            <a:off x="5943600" y="1325880"/>
            <a:ext cx="2560320" cy="640080"/>
          </a:xfrm>
          <a:prstGeom prst="rect">
            <a:avLst/>
          </a:prstGeom>
          <a:noFill/>
          <a:ln/>
        </p:spPr>
        <p:txBody>
          <a:bodyPr wrap="square" lIns="0" tIns="0" rIns="0" bIns="0" rtlCol="0" anchor="t"/>
          <a:lstStyle/>
          <a:p>
            <a:pPr marL="0" indent="0">
              <a:buNone/>
            </a:pPr>
            <a:r>
              <a:rPr lang="en-US" sz="1600" b="1" dirty="0">
                <a:solidFill>
                  <a:schemeClr val="accent6"/>
                </a:solidFill>
              </a:rPr>
              <a:t>If we used only arrays or stacks…</a:t>
            </a:r>
            <a:endParaRPr lang="en-US" sz="1600" dirty="0"/>
          </a:p>
        </p:txBody>
      </p:sp>
      <p:sp>
        <p:nvSpPr>
          <p:cNvPr id="20" name="Problems text"/>
          <p:cNvSpPr txBox="1"/>
          <p:nvPr/>
        </p:nvSpPr>
        <p:spPr>
          <a:xfrm>
            <a:off x="5943600" y="2011680"/>
            <a:ext cx="2560320" cy="2194560"/>
          </a:xfrm>
          <a:prstGeom prst="rect">
            <a:avLst/>
          </a:prstGeom>
          <a:noFill/>
          <a:ln/>
        </p:spPr>
        <p:txBody>
          <a:bodyPr wrap="square" lIns="0" tIns="0" rIns="0" bIns="0" rtlCol="0" anchor="t"/>
          <a:lstStyle/>
          <a:p>
            <a:pPr marL="0" indent="0">
              <a:buNone/>
            </a:pPr>
            <a:r>
              <a:rPr lang="en-US" sz="1600" b="1" dirty="0">
                <a:solidFill>
                  <a:schemeClr val="bg1"/>
                </a:solidFill>
              </a:rPr>
              <a:t>Stack (LIFO): </a:t>
            </a:r>
            <a:r>
              <a:rPr lang="en-US" sz="1600" dirty="0">
                <a:solidFill>
                  <a:schemeClr val="bg2"/>
                </a:solidFill>
              </a:rPr>
              <a:t>newest flight is served first, old flights wait forever</a:t>
            </a:r>
            <a:endParaRPr lang="en-US" sz="1600" dirty="0"/>
          </a:p>
          <a:p>
            <a:pPr marL="0" indent="0">
              <a:buNone/>
            </a:pPr>
            <a:r>
              <a:rPr lang="en-US" sz="600" dirty="0">
                <a:solidFill>
                  <a:srgbClr val="000000"/>
                </a:solidFill>
              </a:rPr>
              <a:t> </a:t>
            </a:r>
          </a:p>
          <a:p>
            <a:pPr marL="0" indent="0">
              <a:buNone/>
            </a:pPr>
            <a:endParaRPr lang="en-US" sz="1600" dirty="0"/>
          </a:p>
          <a:p>
            <a:pPr marL="0" indent="0">
              <a:buNone/>
            </a:pPr>
            <a:r>
              <a:rPr lang="en-US" sz="1600" b="1" dirty="0">
                <a:solidFill>
                  <a:schemeClr val="bg1"/>
                </a:solidFill>
              </a:rPr>
              <a:t>Plain array: </a:t>
            </a:r>
            <a:r>
              <a:rPr lang="en-US" sz="1600" dirty="0">
                <a:solidFill>
                  <a:schemeClr val="bg2"/>
                </a:solidFill>
              </a:rPr>
              <a:t>fixed size, no order rule, records lost after 10 flights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306727-6B4C-61D2-679B-42C77C01512F}"/>
              </a:ext>
            </a:extLst>
          </p:cNvPr>
          <p:cNvSpPr txBox="1"/>
          <p:nvPr/>
        </p:nvSpPr>
        <p:spPr>
          <a:xfrm>
            <a:off x="65848" y="68580"/>
            <a:ext cx="5542472" cy="523220"/>
          </a:xfrm>
          <a:prstGeom prst="rect">
            <a:avLst/>
          </a:prstGeom>
          <a:noFill/>
        </p:spPr>
        <p:txBody>
          <a:bodyPr wrap="square" rtlCol="0">
            <a:spAutoFit/>
          </a:bodyPr>
          <a:lstStyle/>
          <a:p>
            <a:r>
              <a:rPr lang="en-IN" sz="2800" b="1" dirty="0">
                <a:latin typeface="+mj-lt"/>
              </a:rPr>
              <a:t>FUNCTIONS WE HAVE CREATED</a:t>
            </a:r>
          </a:p>
        </p:txBody>
      </p:sp>
      <p:pic>
        <p:nvPicPr>
          <p:cNvPr id="13" name="Picture 12">
            <a:extLst>
              <a:ext uri="{FF2B5EF4-FFF2-40B4-BE49-F238E27FC236}">
                <a16:creationId xmlns:a16="http://schemas.microsoft.com/office/drawing/2014/main" id="{0DD04640-3F94-7849-CCEA-A4D1C310F9E7}"/>
              </a:ext>
            </a:extLst>
          </p:cNvPr>
          <p:cNvPicPr>
            <a:picLocks noChangeAspect="1"/>
          </p:cNvPicPr>
          <p:nvPr/>
        </p:nvPicPr>
        <p:blipFill>
          <a:blip r:embed="rId2"/>
          <a:stretch>
            <a:fillRect/>
          </a:stretch>
        </p:blipFill>
        <p:spPr>
          <a:xfrm>
            <a:off x="0" y="529579"/>
            <a:ext cx="9144000" cy="4545341"/>
          </a:xfrm>
          <a:prstGeom prst="rect">
            <a:avLst/>
          </a:prstGeom>
        </p:spPr>
      </p:pic>
    </p:spTree>
    <p:extLst>
      <p:ext uri="{BB962C8B-B14F-4D97-AF65-F5344CB8AC3E}">
        <p14:creationId xmlns:p14="http://schemas.microsoft.com/office/powerpoint/2010/main" val="3180680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 y="-89681"/>
            <a:ext cx="3305908" cy="685800"/>
          </a:xfrm>
          <a:prstGeom prst="rect">
            <a:avLst/>
          </a:prstGeom>
          <a:noFill/>
          <a:ln/>
        </p:spPr>
        <p:txBody>
          <a:bodyPr wrap="square" lIns="0" tIns="0" rIns="0" bIns="0" rtlCol="0" anchor="ctr"/>
          <a:lstStyle/>
          <a:p>
            <a:pPr marL="0" indent="0" algn="l">
              <a:buNone/>
            </a:pPr>
            <a:r>
              <a:rPr lang="en-US" sz="2800" b="1" dirty="0">
                <a:solidFill>
                  <a:schemeClr val="tx1"/>
                </a:solidFill>
              </a:rPr>
              <a:t>Algorithms Used</a:t>
            </a:r>
            <a:endParaRPr lang="en-US" sz="2800" dirty="0"/>
          </a:p>
        </p:txBody>
      </p:sp>
      <p:sp>
        <p:nvSpPr>
          <p:cNvPr id="4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7</a:t>
            </a:fld>
            <a:endParaRPr lang="en-US"/>
          </a:p>
        </p:txBody>
      </p:sp>
      <p:sp>
        <p:nvSpPr>
          <p:cNvPr id="44" name="TextBox 43">
            <a:extLst>
              <a:ext uri="{FF2B5EF4-FFF2-40B4-BE49-F238E27FC236}">
                <a16:creationId xmlns:a16="http://schemas.microsoft.com/office/drawing/2014/main" id="{8BAFABB3-6B48-2BAA-6CDC-D20215725C50}"/>
              </a:ext>
            </a:extLst>
          </p:cNvPr>
          <p:cNvSpPr txBox="1"/>
          <p:nvPr/>
        </p:nvSpPr>
        <p:spPr>
          <a:xfrm>
            <a:off x="91440" y="749105"/>
            <a:ext cx="4234375" cy="3539430"/>
          </a:xfrm>
          <a:prstGeom prst="rect">
            <a:avLst/>
          </a:prstGeom>
          <a:noFill/>
        </p:spPr>
        <p:txBody>
          <a:bodyPr wrap="square" rtlCol="0">
            <a:spAutoFit/>
          </a:bodyPr>
          <a:lstStyle/>
          <a:p>
            <a:r>
              <a:rPr lang="en-IN" sz="1400" b="1" dirty="0"/>
              <a:t>1. Algorithm for </a:t>
            </a:r>
            <a:r>
              <a:rPr lang="en-IN" sz="1400" b="1" dirty="0" err="1"/>
              <a:t>addFlight</a:t>
            </a:r>
            <a:r>
              <a:rPr lang="en-IN" sz="1400" b="1" dirty="0"/>
              <a:t>()</a:t>
            </a:r>
          </a:p>
          <a:p>
            <a:r>
              <a:rPr lang="en-IN" sz="1400" dirty="0"/>
              <a:t>(</a:t>
            </a:r>
            <a:r>
              <a:rPr lang="en-IN" sz="1400" dirty="0" err="1"/>
              <a:t>requestLanding</a:t>
            </a:r>
            <a:r>
              <a:rPr lang="en-IN" sz="1400" dirty="0"/>
              <a:t>() and </a:t>
            </a:r>
            <a:r>
              <a:rPr lang="en-IN" sz="1400" dirty="0" err="1"/>
              <a:t>requestTakeoff</a:t>
            </a:r>
            <a:r>
              <a:rPr lang="en-IN" sz="1400" dirty="0"/>
              <a:t>() work the same way, with the operation set to "Landing" or "</a:t>
            </a:r>
            <a:r>
              <a:rPr lang="en-IN" sz="1400" dirty="0" err="1"/>
              <a:t>Takeoff</a:t>
            </a:r>
            <a:r>
              <a:rPr lang="en-IN" sz="1400" dirty="0"/>
              <a:t>".)</a:t>
            </a:r>
          </a:p>
          <a:p>
            <a:r>
              <a:rPr lang="en-IN" sz="1400" dirty="0"/>
              <a:t>Step 1: Read flight number.</a:t>
            </a:r>
            <a:br>
              <a:rPr lang="en-IN" sz="1400" dirty="0"/>
            </a:br>
            <a:r>
              <a:rPr lang="en-IN" sz="1400" dirty="0"/>
              <a:t>Step 2: Read flight name.</a:t>
            </a:r>
            <a:br>
              <a:rPr lang="en-IN" sz="1400" dirty="0"/>
            </a:br>
            <a:r>
              <a:rPr lang="en-IN" sz="1400" dirty="0"/>
              <a:t>Step 3: Set operation = "Normal".</a:t>
            </a:r>
            <a:br>
              <a:rPr lang="en-IN" sz="1400" dirty="0"/>
            </a:br>
            <a:r>
              <a:rPr lang="en-IN" sz="1400" dirty="0"/>
              <a:t>Step 4: If rear = MAX - 1, then:</a:t>
            </a:r>
            <a:br>
              <a:rPr lang="en-IN" sz="1400" dirty="0"/>
            </a:br>
            <a:r>
              <a:rPr lang="en-IN" sz="1400" dirty="0"/>
              <a:t>Write "Normal queue is full"</a:t>
            </a:r>
            <a:br>
              <a:rPr lang="en-IN" sz="1400" dirty="0"/>
            </a:br>
            <a:r>
              <a:rPr lang="en-IN" sz="1400" dirty="0"/>
              <a:t>Return</a:t>
            </a:r>
            <a:br>
              <a:rPr lang="en-IN" sz="1400" dirty="0"/>
            </a:br>
            <a:r>
              <a:rPr lang="en-IN" sz="1400" dirty="0"/>
              <a:t>[End of If]</a:t>
            </a:r>
            <a:br>
              <a:rPr lang="en-IN" sz="1400" dirty="0"/>
            </a:br>
            <a:r>
              <a:rPr lang="en-IN" sz="1400" dirty="0"/>
              <a:t>Step 5: If front = -1, set front = 0.</a:t>
            </a:r>
            <a:br>
              <a:rPr lang="en-IN" sz="1400" dirty="0"/>
            </a:br>
            <a:r>
              <a:rPr lang="en-IN" sz="1400" dirty="0"/>
              <a:t>Step 6: Set rear = rear + 1.</a:t>
            </a:r>
            <a:br>
              <a:rPr lang="en-IN" sz="1400" dirty="0"/>
            </a:br>
            <a:r>
              <a:rPr lang="en-IN" sz="1400" dirty="0"/>
              <a:t>Step 7: Set data[rear] = flight.</a:t>
            </a:r>
            <a:br>
              <a:rPr lang="en-IN" sz="1400" dirty="0"/>
            </a:br>
            <a:r>
              <a:rPr lang="en-IN" sz="1400" dirty="0"/>
              <a:t>Step 8: Write "Flight added to normal queue".</a:t>
            </a:r>
            <a:br>
              <a:rPr lang="en-IN" sz="1400" dirty="0"/>
            </a:br>
            <a:r>
              <a:rPr lang="en-IN" sz="1400" dirty="0"/>
              <a:t>Step 9: Return</a:t>
            </a:r>
          </a:p>
          <a:p>
            <a:endParaRPr lang="en-IN" sz="1400" dirty="0"/>
          </a:p>
        </p:txBody>
      </p:sp>
      <p:sp>
        <p:nvSpPr>
          <p:cNvPr id="45" name="TextBox 44">
            <a:extLst>
              <a:ext uri="{FF2B5EF4-FFF2-40B4-BE49-F238E27FC236}">
                <a16:creationId xmlns:a16="http://schemas.microsoft.com/office/drawing/2014/main" id="{869CD4E0-CEE1-CDCF-5D40-D9C9EAE04D3F}"/>
              </a:ext>
            </a:extLst>
          </p:cNvPr>
          <p:cNvSpPr txBox="1"/>
          <p:nvPr/>
        </p:nvSpPr>
        <p:spPr>
          <a:xfrm>
            <a:off x="4325815" y="647114"/>
            <a:ext cx="4304714" cy="4616648"/>
          </a:xfrm>
          <a:prstGeom prst="rect">
            <a:avLst/>
          </a:prstGeom>
          <a:noFill/>
        </p:spPr>
        <p:txBody>
          <a:bodyPr wrap="square" rtlCol="0">
            <a:spAutoFit/>
          </a:bodyPr>
          <a:lstStyle/>
          <a:p>
            <a:r>
              <a:rPr lang="en-IN" sz="1400" b="1" dirty="0"/>
              <a:t>2. Algorithm for </a:t>
            </a:r>
            <a:r>
              <a:rPr lang="en-IN" sz="1400" b="1" dirty="0" err="1"/>
              <a:t>emergencyLanding</a:t>
            </a:r>
            <a:r>
              <a:rPr lang="en-IN" sz="1400" b="1" dirty="0"/>
              <a:t>()</a:t>
            </a:r>
          </a:p>
          <a:p>
            <a:r>
              <a:rPr lang="en-IN" sz="1400" dirty="0"/>
              <a:t>Step 1: Read flight number.</a:t>
            </a:r>
            <a:br>
              <a:rPr lang="en-IN" sz="1400" dirty="0"/>
            </a:br>
            <a:r>
              <a:rPr lang="en-IN" sz="1400" dirty="0"/>
              <a:t>Step 2: Read flight name.</a:t>
            </a:r>
            <a:br>
              <a:rPr lang="en-IN" sz="1400" dirty="0"/>
            </a:br>
            <a:r>
              <a:rPr lang="en-IN" sz="1400" dirty="0"/>
              <a:t>Step 3: Set operation = "Emergency" and priority = 10.</a:t>
            </a:r>
            <a:br>
              <a:rPr lang="en-IN" sz="1400" dirty="0"/>
            </a:br>
            <a:r>
              <a:rPr lang="en-IN" sz="1400" dirty="0"/>
              <a:t>Step 4: If </a:t>
            </a:r>
            <a:r>
              <a:rPr lang="en-IN" sz="1400" dirty="0" err="1"/>
              <a:t>prioritySize</a:t>
            </a:r>
            <a:r>
              <a:rPr lang="en-IN" sz="1400" dirty="0"/>
              <a:t> = MAX, then:</a:t>
            </a:r>
            <a:br>
              <a:rPr lang="en-IN" sz="1400" dirty="0"/>
            </a:br>
            <a:r>
              <a:rPr lang="en-IN" sz="1400" dirty="0"/>
              <a:t>Write "Priority queue is full"</a:t>
            </a:r>
            <a:br>
              <a:rPr lang="en-IN" sz="1400" dirty="0"/>
            </a:br>
            <a:r>
              <a:rPr lang="en-IN" sz="1400" dirty="0"/>
              <a:t>Return</a:t>
            </a:r>
            <a:br>
              <a:rPr lang="en-IN" sz="1400" dirty="0"/>
            </a:br>
            <a:r>
              <a:rPr lang="en-IN" sz="1400" dirty="0"/>
              <a:t>[End of If]</a:t>
            </a:r>
            <a:br>
              <a:rPr lang="en-IN" sz="1400" dirty="0"/>
            </a:br>
            <a:r>
              <a:rPr lang="en-IN" sz="1400" dirty="0"/>
              <a:t>Step 5: Set </a:t>
            </a:r>
            <a:r>
              <a:rPr lang="en-IN" sz="1400" dirty="0" err="1"/>
              <a:t>i</a:t>
            </a:r>
            <a:r>
              <a:rPr lang="en-IN" sz="1400" dirty="0"/>
              <a:t> = </a:t>
            </a:r>
            <a:r>
              <a:rPr lang="en-IN" sz="1400" dirty="0" err="1"/>
              <a:t>prioritySize</a:t>
            </a:r>
            <a:r>
              <a:rPr lang="en-IN" sz="1400" dirty="0"/>
              <a:t> - 1.</a:t>
            </a:r>
            <a:br>
              <a:rPr lang="en-IN" sz="1400" dirty="0"/>
            </a:br>
            <a:r>
              <a:rPr lang="en-IN" sz="1400" dirty="0"/>
              <a:t>Step 6: Repeat while </a:t>
            </a:r>
            <a:r>
              <a:rPr lang="en-IN" sz="1400" dirty="0" err="1"/>
              <a:t>i</a:t>
            </a:r>
            <a:r>
              <a:rPr lang="en-IN" sz="1400" dirty="0"/>
              <a:t> &gt;= 0 and </a:t>
            </a:r>
            <a:r>
              <a:rPr lang="en-IN" sz="1400" dirty="0" err="1"/>
              <a:t>priorityQueue</a:t>
            </a:r>
            <a:r>
              <a:rPr lang="en-IN" sz="1400" dirty="0"/>
              <a:t>[</a:t>
            </a:r>
            <a:r>
              <a:rPr lang="en-IN" sz="1400" dirty="0" err="1"/>
              <a:t>i</a:t>
            </a:r>
            <a:r>
              <a:rPr lang="en-IN" sz="1400" dirty="0"/>
              <a:t>].priority &lt; priority:</a:t>
            </a:r>
            <a:br>
              <a:rPr lang="en-IN" sz="1400" dirty="0"/>
            </a:br>
            <a:r>
              <a:rPr lang="en-IN" sz="1400" dirty="0"/>
              <a:t>Step 6.1: Set </a:t>
            </a:r>
            <a:r>
              <a:rPr lang="en-IN" sz="1400" dirty="0" err="1"/>
              <a:t>priorityQueue</a:t>
            </a:r>
            <a:r>
              <a:rPr lang="en-IN" sz="1400" dirty="0"/>
              <a:t>[</a:t>
            </a:r>
            <a:r>
              <a:rPr lang="en-IN" sz="1400" dirty="0" err="1"/>
              <a:t>i</a:t>
            </a:r>
            <a:r>
              <a:rPr lang="en-IN" sz="1400" dirty="0"/>
              <a:t> + 1] = </a:t>
            </a:r>
            <a:r>
              <a:rPr lang="en-IN" sz="1400" dirty="0" err="1"/>
              <a:t>priorityQueue</a:t>
            </a:r>
            <a:r>
              <a:rPr lang="en-IN" sz="1400" dirty="0"/>
              <a:t>[</a:t>
            </a:r>
            <a:r>
              <a:rPr lang="en-IN" sz="1400" dirty="0" err="1"/>
              <a:t>i</a:t>
            </a:r>
            <a:r>
              <a:rPr lang="en-IN" sz="1400" dirty="0"/>
              <a:t>].</a:t>
            </a:r>
            <a:br>
              <a:rPr lang="en-IN" sz="1400" dirty="0"/>
            </a:br>
            <a:r>
              <a:rPr lang="en-IN" sz="1400" dirty="0"/>
              <a:t>Step 6.2: Set </a:t>
            </a:r>
            <a:r>
              <a:rPr lang="en-IN" sz="1400" dirty="0" err="1"/>
              <a:t>i</a:t>
            </a:r>
            <a:r>
              <a:rPr lang="en-IN" sz="1400" dirty="0"/>
              <a:t> = </a:t>
            </a:r>
            <a:r>
              <a:rPr lang="en-IN" sz="1400" dirty="0" err="1"/>
              <a:t>i</a:t>
            </a:r>
            <a:r>
              <a:rPr lang="en-IN" sz="1400" dirty="0"/>
              <a:t> - 1.</a:t>
            </a:r>
            <a:br>
              <a:rPr lang="en-IN" sz="1400" dirty="0"/>
            </a:br>
            <a:r>
              <a:rPr lang="en-IN" sz="1400" dirty="0"/>
              <a:t>[End of Loop]</a:t>
            </a:r>
            <a:br>
              <a:rPr lang="en-IN" sz="1400" dirty="0"/>
            </a:br>
            <a:r>
              <a:rPr lang="en-IN" sz="1400" dirty="0"/>
              <a:t>Step 7: Set </a:t>
            </a:r>
            <a:r>
              <a:rPr lang="en-IN" sz="1400" dirty="0" err="1"/>
              <a:t>priorityQueue</a:t>
            </a:r>
            <a:r>
              <a:rPr lang="en-IN" sz="1400" dirty="0"/>
              <a:t>[</a:t>
            </a:r>
            <a:r>
              <a:rPr lang="en-IN" sz="1400" dirty="0" err="1"/>
              <a:t>i</a:t>
            </a:r>
            <a:r>
              <a:rPr lang="en-IN" sz="1400" dirty="0"/>
              <a:t> + 1].data = flight and </a:t>
            </a:r>
            <a:r>
              <a:rPr lang="en-IN" sz="1400" dirty="0" err="1"/>
              <a:t>priorityQueue</a:t>
            </a:r>
            <a:r>
              <a:rPr lang="en-IN" sz="1400" dirty="0"/>
              <a:t>[</a:t>
            </a:r>
            <a:r>
              <a:rPr lang="en-IN" sz="1400" dirty="0" err="1"/>
              <a:t>i</a:t>
            </a:r>
            <a:r>
              <a:rPr lang="en-IN" sz="1400" dirty="0"/>
              <a:t> + 1].priority = priority.</a:t>
            </a:r>
            <a:br>
              <a:rPr lang="en-IN" sz="1400" dirty="0"/>
            </a:br>
            <a:r>
              <a:rPr lang="en-IN" sz="1400" dirty="0"/>
              <a:t>Step 8: Set </a:t>
            </a:r>
            <a:r>
              <a:rPr lang="en-IN" sz="1400" dirty="0" err="1"/>
              <a:t>prioritySize</a:t>
            </a:r>
            <a:r>
              <a:rPr lang="en-IN" sz="1400" dirty="0"/>
              <a:t> = </a:t>
            </a:r>
            <a:r>
              <a:rPr lang="en-IN" sz="1400" dirty="0" err="1"/>
              <a:t>prioritySize</a:t>
            </a:r>
            <a:r>
              <a:rPr lang="en-IN" sz="1400" dirty="0"/>
              <a:t> + 1.</a:t>
            </a:r>
            <a:br>
              <a:rPr lang="en-IN" sz="1400" dirty="0"/>
            </a:br>
            <a:r>
              <a:rPr lang="en-IN" sz="1400" dirty="0"/>
              <a:t>Step 9: Write "Emergency flight added to priority queue".</a:t>
            </a:r>
            <a:br>
              <a:rPr lang="en-IN" sz="1400" dirty="0"/>
            </a:br>
            <a:r>
              <a:rPr lang="en-IN" sz="1400" dirty="0"/>
              <a:t>Step 10: Return</a:t>
            </a:r>
          </a:p>
          <a:p>
            <a:endParaRPr lang="en-IN"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8F05F7-22EC-F1E6-41CE-68D09F7F935F}"/>
              </a:ext>
            </a:extLst>
          </p:cNvPr>
          <p:cNvSpPr txBox="1"/>
          <p:nvPr/>
        </p:nvSpPr>
        <p:spPr>
          <a:xfrm>
            <a:off x="0" y="0"/>
            <a:ext cx="5514535" cy="5262979"/>
          </a:xfrm>
          <a:prstGeom prst="rect">
            <a:avLst/>
          </a:prstGeom>
          <a:noFill/>
        </p:spPr>
        <p:txBody>
          <a:bodyPr wrap="square" rtlCol="0">
            <a:spAutoFit/>
          </a:bodyPr>
          <a:lstStyle/>
          <a:p>
            <a:r>
              <a:rPr lang="en-IN" sz="1200" b="1" dirty="0"/>
              <a:t>3. Algorithm for </a:t>
            </a:r>
            <a:r>
              <a:rPr lang="en-IN" sz="1200" b="1" dirty="0" err="1"/>
              <a:t>processNextFlight</a:t>
            </a:r>
            <a:r>
              <a:rPr lang="en-IN" sz="1200" b="1" dirty="0"/>
              <a:t>()</a:t>
            </a:r>
          </a:p>
          <a:p>
            <a:r>
              <a:rPr lang="en-IN" sz="1200" dirty="0"/>
              <a:t>Step 1: If </a:t>
            </a:r>
            <a:r>
              <a:rPr lang="en-IN" sz="1200" dirty="0" err="1"/>
              <a:t>prioritySize</a:t>
            </a:r>
            <a:r>
              <a:rPr lang="en-IN" sz="1200" dirty="0"/>
              <a:t> &gt; 0, then:</a:t>
            </a:r>
            <a:br>
              <a:rPr lang="en-IN" sz="1200" dirty="0"/>
            </a:br>
            <a:r>
              <a:rPr lang="en-IN" sz="1200" dirty="0"/>
              <a:t>Step 1.1: Set flight = </a:t>
            </a:r>
            <a:r>
              <a:rPr lang="en-IN" sz="1200" dirty="0" err="1"/>
              <a:t>priorityQueue</a:t>
            </a:r>
            <a:r>
              <a:rPr lang="en-IN" sz="1200" dirty="0"/>
              <a:t>[0].data.</a:t>
            </a:r>
            <a:br>
              <a:rPr lang="en-IN" sz="1200" dirty="0"/>
            </a:br>
            <a:r>
              <a:rPr lang="en-IN" sz="1200" dirty="0"/>
              <a:t>Step 1.2: Repeat for </a:t>
            </a:r>
            <a:r>
              <a:rPr lang="en-IN" sz="1200" dirty="0" err="1"/>
              <a:t>i</a:t>
            </a:r>
            <a:r>
              <a:rPr lang="en-IN" sz="1200" dirty="0"/>
              <a:t> = 0 to </a:t>
            </a:r>
            <a:r>
              <a:rPr lang="en-IN" sz="1200" dirty="0" err="1"/>
              <a:t>prioritySize</a:t>
            </a:r>
            <a:r>
              <a:rPr lang="en-IN" sz="1200" dirty="0"/>
              <a:t> - 2: set </a:t>
            </a:r>
            <a:r>
              <a:rPr lang="en-IN" sz="1200" dirty="0" err="1"/>
              <a:t>priorityQueue</a:t>
            </a:r>
            <a:r>
              <a:rPr lang="en-IN" sz="1200" dirty="0"/>
              <a:t>[</a:t>
            </a:r>
            <a:r>
              <a:rPr lang="en-IN" sz="1200" dirty="0" err="1"/>
              <a:t>i</a:t>
            </a:r>
            <a:r>
              <a:rPr lang="en-IN" sz="1200" dirty="0"/>
              <a:t>] = </a:t>
            </a:r>
            <a:r>
              <a:rPr lang="en-IN" sz="1200" dirty="0" err="1"/>
              <a:t>priorityQueue</a:t>
            </a:r>
            <a:r>
              <a:rPr lang="en-IN" sz="1200" dirty="0"/>
              <a:t>[</a:t>
            </a:r>
            <a:r>
              <a:rPr lang="en-IN" sz="1200" dirty="0" err="1"/>
              <a:t>i</a:t>
            </a:r>
            <a:r>
              <a:rPr lang="en-IN" sz="1200" dirty="0"/>
              <a:t> + 1].</a:t>
            </a:r>
            <a:br>
              <a:rPr lang="en-IN" sz="1200" dirty="0"/>
            </a:br>
            <a:r>
              <a:rPr lang="en-IN" sz="1200" dirty="0"/>
              <a:t>Step 1.3: Set </a:t>
            </a:r>
            <a:r>
              <a:rPr lang="en-IN" sz="1200" dirty="0" err="1"/>
              <a:t>prioritySize</a:t>
            </a:r>
            <a:r>
              <a:rPr lang="en-IN" sz="1200" dirty="0"/>
              <a:t> = </a:t>
            </a:r>
            <a:r>
              <a:rPr lang="en-IN" sz="1200" dirty="0" err="1"/>
              <a:t>prioritySize</a:t>
            </a:r>
            <a:r>
              <a:rPr lang="en-IN" sz="1200" dirty="0"/>
              <a:t> - 1.</a:t>
            </a:r>
            <a:br>
              <a:rPr lang="en-IN" sz="1200" dirty="0"/>
            </a:br>
            <a:r>
              <a:rPr lang="en-IN" sz="1200" dirty="0"/>
              <a:t>Step 2: Else:</a:t>
            </a:r>
            <a:br>
              <a:rPr lang="en-IN" sz="1200" dirty="0"/>
            </a:br>
            <a:r>
              <a:rPr lang="en-IN" sz="1200" dirty="0"/>
              <a:t>Step 2.1: If front = -1 or front &gt; rear, then set </a:t>
            </a:r>
            <a:r>
              <a:rPr lang="en-IN" sz="1200" dirty="0" err="1"/>
              <a:t>flight.flightNo</a:t>
            </a:r>
            <a:r>
              <a:rPr lang="en-IN" sz="1200" dirty="0"/>
              <a:t> = 0.</a:t>
            </a:r>
            <a:br>
              <a:rPr lang="en-IN" sz="1200" dirty="0"/>
            </a:br>
            <a:r>
              <a:rPr lang="en-IN" sz="1200" dirty="0"/>
              <a:t>Step 2.2: Else, set flight = data[front] and front = front + 1.</a:t>
            </a:r>
            <a:br>
              <a:rPr lang="en-IN" sz="1200" dirty="0"/>
            </a:br>
            <a:r>
              <a:rPr lang="en-IN" sz="1200" dirty="0"/>
              <a:t>[End of If]</a:t>
            </a:r>
            <a:br>
              <a:rPr lang="en-IN" sz="1200" dirty="0"/>
            </a:br>
            <a:r>
              <a:rPr lang="en-IN" sz="1200" dirty="0"/>
              <a:t>Step 3: If </a:t>
            </a:r>
            <a:r>
              <a:rPr lang="en-IN" sz="1200" dirty="0" err="1"/>
              <a:t>flight.flightNo</a:t>
            </a:r>
            <a:r>
              <a:rPr lang="en-IN" sz="1200" dirty="0"/>
              <a:t> = 0, then:</a:t>
            </a:r>
            <a:br>
              <a:rPr lang="en-IN" sz="1200" dirty="0"/>
            </a:br>
            <a:r>
              <a:rPr lang="en-IN" sz="1200" dirty="0"/>
              <a:t>Write "No flights waiting"</a:t>
            </a:r>
            <a:br>
              <a:rPr lang="en-IN" sz="1200" dirty="0"/>
            </a:br>
            <a:r>
              <a:rPr lang="en-IN" sz="1200" dirty="0"/>
              <a:t>Return</a:t>
            </a:r>
            <a:br>
              <a:rPr lang="en-IN" sz="1200" dirty="0"/>
            </a:br>
            <a:r>
              <a:rPr lang="en-IN" sz="1200" dirty="0"/>
              <a:t>[End of If]</a:t>
            </a:r>
            <a:br>
              <a:rPr lang="en-IN" sz="1200" dirty="0"/>
            </a:br>
            <a:r>
              <a:rPr lang="en-IN" sz="1200" dirty="0"/>
              <a:t>Step 4: Set </a:t>
            </a:r>
            <a:r>
              <a:rPr lang="en-IN" sz="1200" dirty="0" err="1"/>
              <a:t>i</a:t>
            </a:r>
            <a:r>
              <a:rPr lang="en-IN" sz="1200" dirty="0"/>
              <a:t> = 0.</a:t>
            </a:r>
            <a:br>
              <a:rPr lang="en-IN" sz="1200" dirty="0"/>
            </a:br>
            <a:r>
              <a:rPr lang="en-IN" sz="1200" dirty="0"/>
              <a:t>Step 5: Repeat while </a:t>
            </a:r>
            <a:r>
              <a:rPr lang="en-IN" sz="1200" dirty="0" err="1"/>
              <a:t>i</a:t>
            </a:r>
            <a:r>
              <a:rPr lang="en-IN" sz="1200" dirty="0"/>
              <a:t> &lt; RUNWAYS:</a:t>
            </a:r>
            <a:br>
              <a:rPr lang="en-IN" sz="1200" dirty="0"/>
            </a:br>
            <a:r>
              <a:rPr lang="en-IN" sz="1200" dirty="0"/>
              <a:t>Step 5.1: If </a:t>
            </a:r>
            <a:r>
              <a:rPr lang="en-IN" sz="1200" dirty="0" err="1"/>
              <a:t>runwayStatus</a:t>
            </a:r>
            <a:r>
              <a:rPr lang="en-IN" sz="1200" dirty="0"/>
              <a:t>[</a:t>
            </a:r>
            <a:r>
              <a:rPr lang="en-IN" sz="1200" dirty="0" err="1"/>
              <a:t>i</a:t>
            </a:r>
            <a:r>
              <a:rPr lang="en-IN" sz="1200" dirty="0"/>
              <a:t>] = 0, then:</a:t>
            </a:r>
            <a:br>
              <a:rPr lang="en-IN" sz="1200" dirty="0"/>
            </a:br>
            <a:r>
              <a:rPr lang="en-IN" sz="1200" dirty="0"/>
              <a:t>Step 5.1.1: Set </a:t>
            </a:r>
            <a:r>
              <a:rPr lang="en-IN" sz="1200" dirty="0" err="1"/>
              <a:t>runwayStatus</a:t>
            </a:r>
            <a:r>
              <a:rPr lang="en-IN" sz="1200" dirty="0"/>
              <a:t>[</a:t>
            </a:r>
            <a:r>
              <a:rPr lang="en-IN" sz="1200" dirty="0" err="1"/>
              <a:t>i</a:t>
            </a:r>
            <a:r>
              <a:rPr lang="en-IN" sz="1200" dirty="0"/>
              <a:t>] = 1.</a:t>
            </a:r>
            <a:br>
              <a:rPr lang="en-IN" sz="1200" dirty="0"/>
            </a:br>
            <a:r>
              <a:rPr lang="en-IN" sz="1200" dirty="0"/>
              <a:t>Step 5.1.2: Write flight number, flight name, operation and runway number (</a:t>
            </a:r>
            <a:r>
              <a:rPr lang="en-IN" sz="1200" dirty="0" err="1"/>
              <a:t>i</a:t>
            </a:r>
            <a:r>
              <a:rPr lang="en-IN" sz="1200" dirty="0"/>
              <a:t> + 1).</a:t>
            </a:r>
            <a:br>
              <a:rPr lang="en-IN" sz="1200" dirty="0"/>
            </a:br>
            <a:r>
              <a:rPr lang="en-IN" sz="1200" dirty="0"/>
              <a:t>Step 5.1.3: Allocate memory for </a:t>
            </a:r>
            <a:r>
              <a:rPr lang="en-IN" sz="1200" dirty="0" err="1"/>
              <a:t>newNode</a:t>
            </a:r>
            <a:r>
              <a:rPr lang="en-IN" sz="1200" dirty="0"/>
              <a:t>.</a:t>
            </a:r>
            <a:br>
              <a:rPr lang="en-IN" sz="1200" dirty="0"/>
            </a:br>
            <a:r>
              <a:rPr lang="en-IN" sz="1200" dirty="0"/>
              <a:t>Step 5.1.4: Set </a:t>
            </a:r>
            <a:r>
              <a:rPr lang="en-IN" sz="1200" dirty="0" err="1"/>
              <a:t>newNode</a:t>
            </a:r>
            <a:r>
              <a:rPr lang="en-IN" sz="1200" dirty="0"/>
              <a:t>-&gt;data = flight and </a:t>
            </a:r>
            <a:r>
              <a:rPr lang="en-IN" sz="1200" dirty="0" err="1"/>
              <a:t>newNode</a:t>
            </a:r>
            <a:r>
              <a:rPr lang="en-IN" sz="1200" dirty="0"/>
              <a:t>-&gt;next = </a:t>
            </a:r>
            <a:r>
              <a:rPr lang="en-IN" sz="1200" dirty="0" err="1"/>
              <a:t>flightRecords</a:t>
            </a:r>
            <a:r>
              <a:rPr lang="en-IN" sz="1200" dirty="0"/>
              <a:t>.</a:t>
            </a:r>
            <a:br>
              <a:rPr lang="en-IN" sz="1200" dirty="0"/>
            </a:br>
            <a:r>
              <a:rPr lang="en-IN" sz="1200" dirty="0"/>
              <a:t>Step 5.1.5: Set </a:t>
            </a:r>
            <a:r>
              <a:rPr lang="en-IN" sz="1200" dirty="0" err="1"/>
              <a:t>flightRecords</a:t>
            </a:r>
            <a:r>
              <a:rPr lang="en-IN" sz="1200" dirty="0"/>
              <a:t> = </a:t>
            </a:r>
            <a:r>
              <a:rPr lang="en-IN" sz="1200" dirty="0" err="1"/>
              <a:t>newNode</a:t>
            </a:r>
            <a:r>
              <a:rPr lang="en-IN" sz="1200" dirty="0"/>
              <a:t>.</a:t>
            </a:r>
            <a:br>
              <a:rPr lang="en-IN" sz="1200" dirty="0"/>
            </a:br>
            <a:r>
              <a:rPr lang="en-IN" sz="1200" dirty="0"/>
              <a:t>Step 5.1.6: Return</a:t>
            </a:r>
            <a:br>
              <a:rPr lang="en-IN" sz="1200" dirty="0"/>
            </a:br>
            <a:r>
              <a:rPr lang="en-IN" sz="1200" dirty="0"/>
              <a:t>[End of If]</a:t>
            </a:r>
            <a:br>
              <a:rPr lang="en-IN" sz="1200" dirty="0"/>
            </a:br>
            <a:r>
              <a:rPr lang="en-IN" sz="1200" dirty="0"/>
              <a:t>Step 5.2: Set </a:t>
            </a:r>
            <a:r>
              <a:rPr lang="en-IN" sz="1200" dirty="0" err="1"/>
              <a:t>i</a:t>
            </a:r>
            <a:r>
              <a:rPr lang="en-IN" sz="1200" dirty="0"/>
              <a:t> = </a:t>
            </a:r>
            <a:r>
              <a:rPr lang="en-IN" sz="1200" dirty="0" err="1"/>
              <a:t>i</a:t>
            </a:r>
            <a:r>
              <a:rPr lang="en-IN" sz="1200" dirty="0"/>
              <a:t> + 1.</a:t>
            </a:r>
            <a:br>
              <a:rPr lang="en-IN" sz="1200" dirty="0"/>
            </a:br>
            <a:r>
              <a:rPr lang="en-IN" sz="1200" dirty="0"/>
              <a:t>[End of Loop]</a:t>
            </a:r>
            <a:br>
              <a:rPr lang="en-IN" sz="1200" dirty="0"/>
            </a:br>
            <a:r>
              <a:rPr lang="en-IN" sz="1200" dirty="0"/>
              <a:t>Step 6: Write "All runways are occupied".</a:t>
            </a:r>
            <a:br>
              <a:rPr lang="en-IN" sz="1200" dirty="0"/>
            </a:br>
            <a:r>
              <a:rPr lang="en-IN" sz="1200" dirty="0"/>
              <a:t>Step 7: Return</a:t>
            </a:r>
          </a:p>
          <a:p>
            <a:endParaRPr lang="en-IN" sz="1200" dirty="0"/>
          </a:p>
        </p:txBody>
      </p:sp>
      <p:sp>
        <p:nvSpPr>
          <p:cNvPr id="3" name="TextBox 2">
            <a:extLst>
              <a:ext uri="{FF2B5EF4-FFF2-40B4-BE49-F238E27FC236}">
                <a16:creationId xmlns:a16="http://schemas.microsoft.com/office/drawing/2014/main" id="{7B150B62-D48D-52CC-18EE-42013CFED569}"/>
              </a:ext>
            </a:extLst>
          </p:cNvPr>
          <p:cNvSpPr txBox="1"/>
          <p:nvPr/>
        </p:nvSpPr>
        <p:spPr>
          <a:xfrm>
            <a:off x="5662246" y="499402"/>
            <a:ext cx="3158197" cy="3754874"/>
          </a:xfrm>
          <a:prstGeom prst="rect">
            <a:avLst/>
          </a:prstGeom>
          <a:noFill/>
        </p:spPr>
        <p:txBody>
          <a:bodyPr wrap="square" rtlCol="0">
            <a:spAutoFit/>
          </a:bodyPr>
          <a:lstStyle/>
          <a:p>
            <a:r>
              <a:rPr lang="en-IN" sz="1400" b="1" dirty="0"/>
              <a:t>4. Algorithm for </a:t>
            </a:r>
            <a:r>
              <a:rPr lang="en-IN" sz="1400" b="1" dirty="0" err="1"/>
              <a:t>freeRunway</a:t>
            </a:r>
            <a:r>
              <a:rPr lang="en-IN" sz="1400" b="1" dirty="0"/>
              <a:t>()</a:t>
            </a:r>
          </a:p>
          <a:p>
            <a:r>
              <a:rPr lang="en-IN" sz="1400" dirty="0"/>
              <a:t>Step 1: Read runway number.</a:t>
            </a:r>
            <a:br>
              <a:rPr lang="en-IN" sz="1400" dirty="0"/>
            </a:br>
            <a:r>
              <a:rPr lang="en-IN" sz="1400" dirty="0"/>
              <a:t>Step 2: If number &lt; 1 or number &gt; RUNWAYS, then:</a:t>
            </a:r>
            <a:br>
              <a:rPr lang="en-IN" sz="1400" dirty="0"/>
            </a:br>
            <a:r>
              <a:rPr lang="en-IN" sz="1400" dirty="0"/>
              <a:t>Write "Invalid runway number"</a:t>
            </a:r>
            <a:br>
              <a:rPr lang="en-IN" sz="1400" dirty="0"/>
            </a:br>
            <a:r>
              <a:rPr lang="en-IN" sz="1400" dirty="0"/>
              <a:t>Return</a:t>
            </a:r>
            <a:br>
              <a:rPr lang="en-IN" sz="1400" dirty="0"/>
            </a:br>
            <a:r>
              <a:rPr lang="en-IN" sz="1400" dirty="0"/>
              <a:t>[End of If]</a:t>
            </a:r>
            <a:br>
              <a:rPr lang="en-IN" sz="1400" dirty="0"/>
            </a:br>
            <a:r>
              <a:rPr lang="en-IN" sz="1400" dirty="0"/>
              <a:t>Step 3: If </a:t>
            </a:r>
            <a:r>
              <a:rPr lang="en-IN" sz="1400" dirty="0" err="1"/>
              <a:t>runwayStatus</a:t>
            </a:r>
            <a:r>
              <a:rPr lang="en-IN" sz="1400" dirty="0"/>
              <a:t>[number - 1] = 0, then:</a:t>
            </a:r>
            <a:br>
              <a:rPr lang="en-IN" sz="1400" dirty="0"/>
            </a:br>
            <a:r>
              <a:rPr lang="en-IN" sz="1400" dirty="0"/>
              <a:t>Write "Runway is already free"</a:t>
            </a:r>
            <a:br>
              <a:rPr lang="en-IN" sz="1400" dirty="0"/>
            </a:br>
            <a:r>
              <a:rPr lang="en-IN" sz="1400" dirty="0"/>
              <a:t>Return</a:t>
            </a:r>
            <a:br>
              <a:rPr lang="en-IN" sz="1400" dirty="0"/>
            </a:br>
            <a:r>
              <a:rPr lang="en-IN" sz="1400" dirty="0"/>
              <a:t>[End of If]</a:t>
            </a:r>
            <a:br>
              <a:rPr lang="en-IN" sz="1400" dirty="0"/>
            </a:br>
            <a:r>
              <a:rPr lang="en-IN" sz="1400" dirty="0"/>
              <a:t>Step 4: Set </a:t>
            </a:r>
            <a:r>
              <a:rPr lang="en-IN" sz="1400" dirty="0" err="1"/>
              <a:t>runwayStatus</a:t>
            </a:r>
            <a:r>
              <a:rPr lang="en-IN" sz="1400" dirty="0"/>
              <a:t>[number - 1] = 0.</a:t>
            </a:r>
            <a:br>
              <a:rPr lang="en-IN" sz="1400" dirty="0"/>
            </a:br>
            <a:r>
              <a:rPr lang="en-IN" sz="1400" dirty="0"/>
              <a:t>Step 5: Write "Runway is now free".</a:t>
            </a:r>
            <a:br>
              <a:rPr lang="en-IN" sz="1400" dirty="0"/>
            </a:br>
            <a:r>
              <a:rPr lang="en-IN" sz="1400" dirty="0"/>
              <a:t>Step 6: Return</a:t>
            </a:r>
          </a:p>
          <a:p>
            <a:endParaRPr lang="en-IN" sz="1200" dirty="0"/>
          </a:p>
        </p:txBody>
      </p:sp>
    </p:spTree>
    <p:extLst>
      <p:ext uri="{BB962C8B-B14F-4D97-AF65-F5344CB8AC3E}">
        <p14:creationId xmlns:p14="http://schemas.microsoft.com/office/powerpoint/2010/main" val="1493120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E35BB8-9C95-D86C-B3B7-780EB1725900}"/>
              </a:ext>
            </a:extLst>
          </p:cNvPr>
          <p:cNvSpPr txBox="1"/>
          <p:nvPr/>
        </p:nvSpPr>
        <p:spPr>
          <a:xfrm>
            <a:off x="35169" y="161778"/>
            <a:ext cx="4086665" cy="3108543"/>
          </a:xfrm>
          <a:prstGeom prst="rect">
            <a:avLst/>
          </a:prstGeom>
          <a:noFill/>
        </p:spPr>
        <p:txBody>
          <a:bodyPr wrap="square" rtlCol="0">
            <a:spAutoFit/>
          </a:bodyPr>
          <a:lstStyle/>
          <a:p>
            <a:r>
              <a:rPr lang="en-IN" sz="1400" b="1" dirty="0"/>
              <a:t>5. Algorithm for </a:t>
            </a:r>
            <a:r>
              <a:rPr lang="en-IN" sz="1400" b="1" dirty="0" err="1"/>
              <a:t>displayWaitingFlights</a:t>
            </a:r>
            <a:r>
              <a:rPr lang="en-IN" sz="1400" b="1" dirty="0"/>
              <a:t>()</a:t>
            </a:r>
          </a:p>
          <a:p>
            <a:r>
              <a:rPr lang="en-IN" sz="1400" dirty="0"/>
              <a:t>Step 1: If </a:t>
            </a:r>
            <a:r>
              <a:rPr lang="en-IN" sz="1400" dirty="0" err="1"/>
              <a:t>prioritySize</a:t>
            </a:r>
            <a:r>
              <a:rPr lang="en-IN" sz="1400" dirty="0"/>
              <a:t> = 0, then write "No emergency flights".</a:t>
            </a:r>
            <a:br>
              <a:rPr lang="en-IN" sz="1400" dirty="0"/>
            </a:br>
            <a:r>
              <a:rPr lang="en-IN" sz="1400" dirty="0"/>
              <a:t>Step 2: Else, repeat for </a:t>
            </a:r>
            <a:r>
              <a:rPr lang="en-IN" sz="1400" dirty="0" err="1"/>
              <a:t>i</a:t>
            </a:r>
            <a:r>
              <a:rPr lang="en-IN" sz="1400" dirty="0"/>
              <a:t> = 0 to </a:t>
            </a:r>
            <a:r>
              <a:rPr lang="en-IN" sz="1400" dirty="0" err="1"/>
              <a:t>prioritySize</a:t>
            </a:r>
            <a:r>
              <a:rPr lang="en-IN" sz="1400" dirty="0"/>
              <a:t> - 1: write flight number, flight name and priority of </a:t>
            </a:r>
            <a:r>
              <a:rPr lang="en-IN" sz="1400" dirty="0" err="1"/>
              <a:t>priorityQueue</a:t>
            </a:r>
            <a:r>
              <a:rPr lang="en-IN" sz="1400" dirty="0"/>
              <a:t>[</a:t>
            </a:r>
            <a:r>
              <a:rPr lang="en-IN" sz="1400" dirty="0" err="1"/>
              <a:t>i</a:t>
            </a:r>
            <a:r>
              <a:rPr lang="en-IN" sz="1400" dirty="0"/>
              <a:t>].</a:t>
            </a:r>
            <a:br>
              <a:rPr lang="en-IN" sz="1400" dirty="0"/>
            </a:br>
            <a:r>
              <a:rPr lang="en-IN" sz="1400" dirty="0"/>
              <a:t>[End of If]</a:t>
            </a:r>
            <a:br>
              <a:rPr lang="en-IN" sz="1400" dirty="0"/>
            </a:br>
            <a:r>
              <a:rPr lang="en-IN" sz="1400" dirty="0"/>
              <a:t>Step 3: If front = -1 or front &gt; rear, then write "No normal flights".</a:t>
            </a:r>
            <a:br>
              <a:rPr lang="en-IN" sz="1400" dirty="0"/>
            </a:br>
            <a:r>
              <a:rPr lang="en-IN" sz="1400" dirty="0"/>
              <a:t>Step 4: Else, repeat for </a:t>
            </a:r>
            <a:r>
              <a:rPr lang="en-IN" sz="1400" dirty="0" err="1"/>
              <a:t>i</a:t>
            </a:r>
            <a:r>
              <a:rPr lang="en-IN" sz="1400" dirty="0"/>
              <a:t> = front to rear: write flight number, flight name and operation of data[</a:t>
            </a:r>
            <a:r>
              <a:rPr lang="en-IN" sz="1400" dirty="0" err="1"/>
              <a:t>i</a:t>
            </a:r>
            <a:r>
              <a:rPr lang="en-IN" sz="1400" dirty="0"/>
              <a:t>].</a:t>
            </a:r>
            <a:br>
              <a:rPr lang="en-IN" sz="1400" dirty="0"/>
            </a:br>
            <a:r>
              <a:rPr lang="en-IN" sz="1400" dirty="0"/>
              <a:t>[End of If]</a:t>
            </a:r>
            <a:br>
              <a:rPr lang="en-IN" sz="1400" dirty="0"/>
            </a:br>
            <a:r>
              <a:rPr lang="en-IN" sz="1400" dirty="0"/>
              <a:t>Step 5: Return</a:t>
            </a:r>
          </a:p>
          <a:p>
            <a:endParaRPr lang="en-IN" sz="1400" dirty="0"/>
          </a:p>
        </p:txBody>
      </p:sp>
      <p:sp>
        <p:nvSpPr>
          <p:cNvPr id="3" name="TextBox 2">
            <a:extLst>
              <a:ext uri="{FF2B5EF4-FFF2-40B4-BE49-F238E27FC236}">
                <a16:creationId xmlns:a16="http://schemas.microsoft.com/office/drawing/2014/main" id="{DCDCC766-71C7-924D-1FE9-AF262CDBA60D}"/>
              </a:ext>
            </a:extLst>
          </p:cNvPr>
          <p:cNvSpPr txBox="1"/>
          <p:nvPr/>
        </p:nvSpPr>
        <p:spPr>
          <a:xfrm>
            <a:off x="4051495" y="91440"/>
            <a:ext cx="5057336" cy="5093702"/>
          </a:xfrm>
          <a:prstGeom prst="rect">
            <a:avLst/>
          </a:prstGeom>
          <a:noFill/>
        </p:spPr>
        <p:txBody>
          <a:bodyPr wrap="square" rtlCol="0">
            <a:spAutoFit/>
          </a:bodyPr>
          <a:lstStyle/>
          <a:p>
            <a:r>
              <a:rPr lang="en-IN" sz="1300" b="1" dirty="0"/>
              <a:t>6. Algorithm for </a:t>
            </a:r>
            <a:r>
              <a:rPr lang="en-IN" sz="1300" b="1" dirty="0" err="1"/>
              <a:t>searchFlight</a:t>
            </a:r>
            <a:r>
              <a:rPr lang="en-IN" sz="1300" b="1" dirty="0"/>
              <a:t>()</a:t>
            </a:r>
          </a:p>
          <a:p>
            <a:r>
              <a:rPr lang="en-IN" sz="1300" dirty="0"/>
              <a:t>Step 1: Read flight number.</a:t>
            </a:r>
            <a:br>
              <a:rPr lang="en-IN" sz="1300" dirty="0"/>
            </a:br>
            <a:r>
              <a:rPr lang="en-IN" sz="1300" dirty="0"/>
              <a:t>Step 2: If front != -1, then repeat for </a:t>
            </a:r>
            <a:r>
              <a:rPr lang="en-IN" sz="1300" dirty="0" err="1"/>
              <a:t>i</a:t>
            </a:r>
            <a:r>
              <a:rPr lang="en-IN" sz="1300" dirty="0"/>
              <a:t> = front to rear:</a:t>
            </a:r>
            <a:br>
              <a:rPr lang="en-IN" sz="1300" dirty="0"/>
            </a:br>
            <a:r>
              <a:rPr lang="en-IN" sz="1300" dirty="0"/>
              <a:t>Step 2.1: If data[</a:t>
            </a:r>
            <a:r>
              <a:rPr lang="en-IN" sz="1300" dirty="0" err="1"/>
              <a:t>i</a:t>
            </a:r>
            <a:r>
              <a:rPr lang="en-IN" sz="1300" dirty="0"/>
              <a:t>].</a:t>
            </a:r>
            <a:r>
              <a:rPr lang="en-IN" sz="1300" dirty="0" err="1"/>
              <a:t>flightNo</a:t>
            </a:r>
            <a:r>
              <a:rPr lang="en-IN" sz="1300" dirty="0"/>
              <a:t> = number, then:</a:t>
            </a:r>
            <a:br>
              <a:rPr lang="en-IN" sz="1300" dirty="0"/>
            </a:br>
            <a:r>
              <a:rPr lang="en-IN" sz="1300" dirty="0"/>
              <a:t>Write "Flight found in normal queue"</a:t>
            </a:r>
            <a:br>
              <a:rPr lang="en-IN" sz="1300" dirty="0"/>
            </a:br>
            <a:r>
              <a:rPr lang="en-IN" sz="1300" dirty="0"/>
              <a:t>Return</a:t>
            </a:r>
            <a:br>
              <a:rPr lang="en-IN" sz="1300" dirty="0"/>
            </a:br>
            <a:r>
              <a:rPr lang="en-IN" sz="1300" dirty="0"/>
              <a:t>[End of If]</a:t>
            </a:r>
            <a:br>
              <a:rPr lang="en-IN" sz="1300" dirty="0"/>
            </a:br>
            <a:r>
              <a:rPr lang="en-IN" sz="1300" dirty="0"/>
              <a:t>[End of Loop]</a:t>
            </a:r>
            <a:br>
              <a:rPr lang="en-IN" sz="1300" dirty="0"/>
            </a:br>
            <a:r>
              <a:rPr lang="en-IN" sz="1300" dirty="0"/>
              <a:t>Step 3: Repeat for </a:t>
            </a:r>
            <a:r>
              <a:rPr lang="en-IN" sz="1300" dirty="0" err="1"/>
              <a:t>i</a:t>
            </a:r>
            <a:r>
              <a:rPr lang="en-IN" sz="1300" dirty="0"/>
              <a:t> = 0 to </a:t>
            </a:r>
            <a:r>
              <a:rPr lang="en-IN" sz="1300" dirty="0" err="1"/>
              <a:t>prioritySize</a:t>
            </a:r>
            <a:r>
              <a:rPr lang="en-IN" sz="1300" dirty="0"/>
              <a:t> - 1:</a:t>
            </a:r>
            <a:br>
              <a:rPr lang="en-IN" sz="1300" dirty="0"/>
            </a:br>
            <a:r>
              <a:rPr lang="en-IN" sz="1300" dirty="0"/>
              <a:t>Step 3.1: If </a:t>
            </a:r>
            <a:r>
              <a:rPr lang="en-IN" sz="1300" dirty="0" err="1"/>
              <a:t>priorityQueue</a:t>
            </a:r>
            <a:r>
              <a:rPr lang="en-IN" sz="1300" dirty="0"/>
              <a:t>[</a:t>
            </a:r>
            <a:r>
              <a:rPr lang="en-IN" sz="1300" dirty="0" err="1"/>
              <a:t>i</a:t>
            </a:r>
            <a:r>
              <a:rPr lang="en-IN" sz="1300" dirty="0"/>
              <a:t>].</a:t>
            </a:r>
            <a:r>
              <a:rPr lang="en-IN" sz="1300" dirty="0" err="1"/>
              <a:t>data.flightNo</a:t>
            </a:r>
            <a:r>
              <a:rPr lang="en-IN" sz="1300" dirty="0"/>
              <a:t> = number, then:</a:t>
            </a:r>
            <a:br>
              <a:rPr lang="en-IN" sz="1300" dirty="0"/>
            </a:br>
            <a:r>
              <a:rPr lang="en-IN" sz="1300" dirty="0"/>
              <a:t>Write "Flight found in priority queue"</a:t>
            </a:r>
            <a:br>
              <a:rPr lang="en-IN" sz="1300" dirty="0"/>
            </a:br>
            <a:r>
              <a:rPr lang="en-IN" sz="1300" dirty="0"/>
              <a:t>Return</a:t>
            </a:r>
            <a:br>
              <a:rPr lang="en-IN" sz="1300" dirty="0"/>
            </a:br>
            <a:r>
              <a:rPr lang="en-IN" sz="1300" dirty="0"/>
              <a:t>[End of If]</a:t>
            </a:r>
            <a:br>
              <a:rPr lang="en-IN" sz="1300" dirty="0"/>
            </a:br>
            <a:r>
              <a:rPr lang="en-IN" sz="1300" dirty="0"/>
              <a:t>[End of Loop]</a:t>
            </a:r>
            <a:br>
              <a:rPr lang="en-IN" sz="1300" dirty="0"/>
            </a:br>
            <a:r>
              <a:rPr lang="en-IN" sz="1300" dirty="0"/>
              <a:t>Step 4: Set temp = </a:t>
            </a:r>
            <a:r>
              <a:rPr lang="en-IN" sz="1300" dirty="0" err="1"/>
              <a:t>flightRecords</a:t>
            </a:r>
            <a:r>
              <a:rPr lang="en-IN" sz="1300" dirty="0"/>
              <a:t>.</a:t>
            </a:r>
            <a:br>
              <a:rPr lang="en-IN" sz="1300" dirty="0"/>
            </a:br>
            <a:r>
              <a:rPr lang="en-IN" sz="1300" dirty="0"/>
              <a:t>Step 5: Repeat while temp != NULL:</a:t>
            </a:r>
            <a:br>
              <a:rPr lang="en-IN" sz="1300" dirty="0"/>
            </a:br>
            <a:r>
              <a:rPr lang="en-IN" sz="1300" dirty="0"/>
              <a:t>Step 5.1: If temp-&gt;</a:t>
            </a:r>
            <a:r>
              <a:rPr lang="en-IN" sz="1300" dirty="0" err="1"/>
              <a:t>data.flightNo</a:t>
            </a:r>
            <a:r>
              <a:rPr lang="en-IN" sz="1300" dirty="0"/>
              <a:t> = number, then:</a:t>
            </a:r>
            <a:br>
              <a:rPr lang="en-IN" sz="1300" dirty="0"/>
            </a:br>
            <a:r>
              <a:rPr lang="en-IN" sz="1300" dirty="0"/>
              <a:t>Write "Flight found in completed records"</a:t>
            </a:r>
            <a:br>
              <a:rPr lang="en-IN" sz="1300" dirty="0"/>
            </a:br>
            <a:r>
              <a:rPr lang="en-IN" sz="1300" dirty="0"/>
              <a:t>Return</a:t>
            </a:r>
            <a:br>
              <a:rPr lang="en-IN" sz="1300" dirty="0"/>
            </a:br>
            <a:r>
              <a:rPr lang="en-IN" sz="1300" dirty="0"/>
              <a:t>[End of If]</a:t>
            </a:r>
            <a:br>
              <a:rPr lang="en-IN" sz="1300" dirty="0"/>
            </a:br>
            <a:r>
              <a:rPr lang="en-IN" sz="1300" dirty="0"/>
              <a:t>Step 5.2: Set temp = temp-&gt;next.</a:t>
            </a:r>
            <a:br>
              <a:rPr lang="en-IN" sz="1300" dirty="0"/>
            </a:br>
            <a:r>
              <a:rPr lang="en-IN" sz="1300" dirty="0"/>
              <a:t>[End of Loop]</a:t>
            </a:r>
            <a:br>
              <a:rPr lang="en-IN" sz="1300" dirty="0"/>
            </a:br>
            <a:r>
              <a:rPr lang="en-IN" sz="1300" dirty="0"/>
              <a:t>Step 6: Write "Flight not found".</a:t>
            </a:r>
            <a:br>
              <a:rPr lang="en-IN" sz="1300" dirty="0"/>
            </a:br>
            <a:r>
              <a:rPr lang="en-IN" sz="1300" dirty="0"/>
              <a:t>Step 7: Return</a:t>
            </a:r>
          </a:p>
          <a:p>
            <a:endParaRPr lang="en-IN" sz="1300" dirty="0"/>
          </a:p>
        </p:txBody>
      </p:sp>
    </p:spTree>
    <p:extLst>
      <p:ext uri="{BB962C8B-B14F-4D97-AF65-F5344CB8AC3E}">
        <p14:creationId xmlns:p14="http://schemas.microsoft.com/office/powerpoint/2010/main" val="38561301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C609E1-CB55-A394-B06E-4D8A5E6C1722}"/>
              </a:ext>
            </a:extLst>
          </p:cNvPr>
          <p:cNvSpPr txBox="1"/>
          <p:nvPr/>
        </p:nvSpPr>
        <p:spPr>
          <a:xfrm>
            <a:off x="77372" y="70338"/>
            <a:ext cx="4016326" cy="4893647"/>
          </a:xfrm>
          <a:prstGeom prst="rect">
            <a:avLst/>
          </a:prstGeom>
          <a:noFill/>
        </p:spPr>
        <p:txBody>
          <a:bodyPr wrap="square" rtlCol="0">
            <a:spAutoFit/>
          </a:bodyPr>
          <a:lstStyle/>
          <a:p>
            <a:r>
              <a:rPr lang="en-IN" sz="1300" b="1" dirty="0"/>
              <a:t>7. Algorithm for </a:t>
            </a:r>
            <a:r>
              <a:rPr lang="en-IN" sz="1300" b="1" dirty="0" err="1"/>
              <a:t>cancelFlight</a:t>
            </a:r>
            <a:r>
              <a:rPr lang="en-IN" sz="1300" b="1" dirty="0"/>
              <a:t>()</a:t>
            </a:r>
          </a:p>
          <a:p>
            <a:r>
              <a:rPr lang="en-IN" sz="1300" dirty="0"/>
              <a:t>Step 1: Read flight number to cancel.</a:t>
            </a:r>
            <a:br>
              <a:rPr lang="en-IN" sz="1300" dirty="0"/>
            </a:br>
            <a:r>
              <a:rPr lang="en-IN" sz="1300" dirty="0"/>
              <a:t>Step 2: If front != -1, then repeat for </a:t>
            </a:r>
            <a:r>
              <a:rPr lang="en-IN" sz="1300" dirty="0" err="1"/>
              <a:t>i</a:t>
            </a:r>
            <a:r>
              <a:rPr lang="en-IN" sz="1300" dirty="0"/>
              <a:t> = front to rear:</a:t>
            </a:r>
            <a:br>
              <a:rPr lang="en-IN" sz="1300" dirty="0"/>
            </a:br>
            <a:r>
              <a:rPr lang="en-IN" sz="1300" dirty="0"/>
              <a:t>Step 2.1: If data[</a:t>
            </a:r>
            <a:r>
              <a:rPr lang="en-IN" sz="1300" dirty="0" err="1"/>
              <a:t>i</a:t>
            </a:r>
            <a:r>
              <a:rPr lang="en-IN" sz="1300" dirty="0"/>
              <a:t>].</a:t>
            </a:r>
            <a:r>
              <a:rPr lang="en-IN" sz="1300" dirty="0" err="1"/>
              <a:t>flightNo</a:t>
            </a:r>
            <a:r>
              <a:rPr lang="en-IN" sz="1300" dirty="0"/>
              <a:t> = number, then:</a:t>
            </a:r>
            <a:br>
              <a:rPr lang="en-IN" sz="1300" dirty="0"/>
            </a:br>
            <a:r>
              <a:rPr lang="en-IN" sz="1300" dirty="0"/>
              <a:t>Step 2.1.1: Repeat for j = </a:t>
            </a:r>
            <a:r>
              <a:rPr lang="en-IN" sz="1300" dirty="0" err="1"/>
              <a:t>i</a:t>
            </a:r>
            <a:r>
              <a:rPr lang="en-IN" sz="1300" dirty="0"/>
              <a:t> to rear - 1: set data[j] = data[j + 1].</a:t>
            </a:r>
            <a:br>
              <a:rPr lang="en-IN" sz="1300" dirty="0"/>
            </a:br>
            <a:r>
              <a:rPr lang="en-IN" sz="1300" dirty="0"/>
              <a:t>Step 2.1.2: Set rear = rear - 1.</a:t>
            </a:r>
            <a:br>
              <a:rPr lang="en-IN" sz="1300" dirty="0"/>
            </a:br>
            <a:r>
              <a:rPr lang="en-IN" sz="1300" dirty="0"/>
              <a:t>Step 2.1.3: Write "Flight cancelled successfully".</a:t>
            </a:r>
            <a:br>
              <a:rPr lang="en-IN" sz="1300" dirty="0"/>
            </a:br>
            <a:r>
              <a:rPr lang="en-IN" sz="1300" dirty="0"/>
              <a:t>Step 2.1.4: Return</a:t>
            </a:r>
            <a:br>
              <a:rPr lang="en-IN" sz="1300" dirty="0"/>
            </a:br>
            <a:r>
              <a:rPr lang="en-IN" sz="1300" dirty="0"/>
              <a:t>[End of If]</a:t>
            </a:r>
            <a:br>
              <a:rPr lang="en-IN" sz="1300" dirty="0"/>
            </a:br>
            <a:r>
              <a:rPr lang="en-IN" sz="1300" dirty="0"/>
              <a:t>[End of Loop]</a:t>
            </a:r>
            <a:br>
              <a:rPr lang="en-IN" sz="1300" dirty="0"/>
            </a:br>
            <a:r>
              <a:rPr lang="en-IN" sz="1300" dirty="0"/>
              <a:t>Step 3: Repeat for </a:t>
            </a:r>
            <a:r>
              <a:rPr lang="en-IN" sz="1300" dirty="0" err="1"/>
              <a:t>i</a:t>
            </a:r>
            <a:r>
              <a:rPr lang="en-IN" sz="1300" dirty="0"/>
              <a:t> = 0 to </a:t>
            </a:r>
            <a:r>
              <a:rPr lang="en-IN" sz="1300" dirty="0" err="1"/>
              <a:t>prioritySize</a:t>
            </a:r>
            <a:r>
              <a:rPr lang="en-IN" sz="1300" dirty="0"/>
              <a:t> - 1:</a:t>
            </a:r>
            <a:br>
              <a:rPr lang="en-IN" sz="1300" dirty="0"/>
            </a:br>
            <a:r>
              <a:rPr lang="en-IN" sz="1300" dirty="0"/>
              <a:t>Step 3.1: If </a:t>
            </a:r>
            <a:r>
              <a:rPr lang="en-IN" sz="1300" dirty="0" err="1"/>
              <a:t>priorityQueue</a:t>
            </a:r>
            <a:r>
              <a:rPr lang="en-IN" sz="1300" dirty="0"/>
              <a:t>[</a:t>
            </a:r>
            <a:r>
              <a:rPr lang="en-IN" sz="1300" dirty="0" err="1"/>
              <a:t>i</a:t>
            </a:r>
            <a:r>
              <a:rPr lang="en-IN" sz="1300" dirty="0"/>
              <a:t>].</a:t>
            </a:r>
            <a:r>
              <a:rPr lang="en-IN" sz="1300" dirty="0" err="1"/>
              <a:t>data.flightNo</a:t>
            </a:r>
            <a:r>
              <a:rPr lang="en-IN" sz="1300" dirty="0"/>
              <a:t> = number, then:</a:t>
            </a:r>
            <a:br>
              <a:rPr lang="en-IN" sz="1300" dirty="0"/>
            </a:br>
            <a:r>
              <a:rPr lang="en-IN" sz="1300" dirty="0"/>
              <a:t>Step 3.1.1: Repeat for j = </a:t>
            </a:r>
            <a:r>
              <a:rPr lang="en-IN" sz="1300" dirty="0" err="1"/>
              <a:t>i</a:t>
            </a:r>
            <a:r>
              <a:rPr lang="en-IN" sz="1300" dirty="0"/>
              <a:t> to </a:t>
            </a:r>
            <a:r>
              <a:rPr lang="en-IN" sz="1300" dirty="0" err="1"/>
              <a:t>prioritySize</a:t>
            </a:r>
            <a:r>
              <a:rPr lang="en-IN" sz="1300" dirty="0"/>
              <a:t> - 2: set </a:t>
            </a:r>
            <a:r>
              <a:rPr lang="en-IN" sz="1300" dirty="0" err="1"/>
              <a:t>priorityQueue</a:t>
            </a:r>
            <a:r>
              <a:rPr lang="en-IN" sz="1300" dirty="0"/>
              <a:t>[j] = </a:t>
            </a:r>
            <a:r>
              <a:rPr lang="en-IN" sz="1300" dirty="0" err="1"/>
              <a:t>priorityQueue</a:t>
            </a:r>
            <a:r>
              <a:rPr lang="en-IN" sz="1300" dirty="0"/>
              <a:t>[j + 1].</a:t>
            </a:r>
            <a:br>
              <a:rPr lang="en-IN" sz="1300" dirty="0"/>
            </a:br>
            <a:r>
              <a:rPr lang="en-IN" sz="1300" dirty="0"/>
              <a:t>Step 3.1.2: Set </a:t>
            </a:r>
            <a:r>
              <a:rPr lang="en-IN" sz="1300" dirty="0" err="1"/>
              <a:t>prioritySize</a:t>
            </a:r>
            <a:r>
              <a:rPr lang="en-IN" sz="1300" dirty="0"/>
              <a:t> = </a:t>
            </a:r>
            <a:r>
              <a:rPr lang="en-IN" sz="1300" dirty="0" err="1"/>
              <a:t>prioritySize</a:t>
            </a:r>
            <a:r>
              <a:rPr lang="en-IN" sz="1300" dirty="0"/>
              <a:t> - 1.</a:t>
            </a:r>
            <a:br>
              <a:rPr lang="en-IN" sz="1300" dirty="0"/>
            </a:br>
            <a:r>
              <a:rPr lang="en-IN" sz="1300" dirty="0"/>
              <a:t>Step 3.1.3: Write "Flight cancelled successfully".</a:t>
            </a:r>
            <a:br>
              <a:rPr lang="en-IN" sz="1300" dirty="0"/>
            </a:br>
            <a:r>
              <a:rPr lang="en-IN" sz="1300" dirty="0"/>
              <a:t>Step 3.1.4: Return</a:t>
            </a:r>
            <a:br>
              <a:rPr lang="en-IN" sz="1300" dirty="0"/>
            </a:br>
            <a:r>
              <a:rPr lang="en-IN" sz="1300" dirty="0"/>
              <a:t>[End of If]</a:t>
            </a:r>
            <a:br>
              <a:rPr lang="en-IN" sz="1300" dirty="0"/>
            </a:br>
            <a:r>
              <a:rPr lang="en-IN" sz="1300" dirty="0"/>
              <a:t>[End of Loop]</a:t>
            </a:r>
            <a:br>
              <a:rPr lang="en-IN" sz="1300" dirty="0"/>
            </a:br>
            <a:r>
              <a:rPr lang="en-IN" sz="1300" dirty="0"/>
              <a:t>Step 4: Write "Flight not found".</a:t>
            </a:r>
            <a:br>
              <a:rPr lang="en-IN" sz="1300" dirty="0"/>
            </a:br>
            <a:r>
              <a:rPr lang="en-IN" sz="1300" dirty="0"/>
              <a:t>Step 5: Return</a:t>
            </a:r>
          </a:p>
          <a:p>
            <a:endParaRPr lang="en-IN" sz="1300" dirty="0"/>
          </a:p>
        </p:txBody>
      </p:sp>
      <p:sp>
        <p:nvSpPr>
          <p:cNvPr id="3" name="TextBox 2">
            <a:extLst>
              <a:ext uri="{FF2B5EF4-FFF2-40B4-BE49-F238E27FC236}">
                <a16:creationId xmlns:a16="http://schemas.microsoft.com/office/drawing/2014/main" id="{9F539CA2-1BAB-A6CF-1EA4-BD4BCFEF59AE}"/>
              </a:ext>
            </a:extLst>
          </p:cNvPr>
          <p:cNvSpPr txBox="1"/>
          <p:nvPr/>
        </p:nvSpPr>
        <p:spPr>
          <a:xfrm>
            <a:off x="4142935" y="70338"/>
            <a:ext cx="4860388" cy="2693045"/>
          </a:xfrm>
          <a:prstGeom prst="rect">
            <a:avLst/>
          </a:prstGeom>
          <a:noFill/>
        </p:spPr>
        <p:txBody>
          <a:bodyPr wrap="square" rtlCol="0">
            <a:spAutoFit/>
          </a:bodyPr>
          <a:lstStyle/>
          <a:p>
            <a:r>
              <a:rPr lang="en-IN" sz="1300" b="1" dirty="0"/>
              <a:t>8. Algorithm for </a:t>
            </a:r>
            <a:r>
              <a:rPr lang="en-IN" sz="1300" b="1" dirty="0" err="1"/>
              <a:t>airportStatus</a:t>
            </a:r>
            <a:r>
              <a:rPr lang="en-IN" sz="1300" b="1" dirty="0"/>
              <a:t>()</a:t>
            </a:r>
          </a:p>
          <a:p>
            <a:r>
              <a:rPr lang="en-IN" sz="1300" dirty="0"/>
              <a:t>Step 1: Repeat for </a:t>
            </a:r>
            <a:r>
              <a:rPr lang="en-IN" sz="1300" dirty="0" err="1"/>
              <a:t>i</a:t>
            </a:r>
            <a:r>
              <a:rPr lang="en-IN" sz="1300" dirty="0"/>
              <a:t> = 0 to RUNWAYS - 1:</a:t>
            </a:r>
            <a:br>
              <a:rPr lang="en-IN" sz="1300" dirty="0"/>
            </a:br>
            <a:r>
              <a:rPr lang="en-IN" sz="1300" dirty="0"/>
              <a:t>Step 1.1: If </a:t>
            </a:r>
            <a:r>
              <a:rPr lang="en-IN" sz="1300" dirty="0" err="1"/>
              <a:t>runwayStatus</a:t>
            </a:r>
            <a:r>
              <a:rPr lang="en-IN" sz="1300" dirty="0"/>
              <a:t>[</a:t>
            </a:r>
            <a:r>
              <a:rPr lang="en-IN" sz="1300" dirty="0" err="1"/>
              <a:t>i</a:t>
            </a:r>
            <a:r>
              <a:rPr lang="en-IN" sz="1300" dirty="0"/>
              <a:t>] = 0, then write "Runway (</a:t>
            </a:r>
            <a:r>
              <a:rPr lang="en-IN" sz="1300" dirty="0" err="1"/>
              <a:t>i</a:t>
            </a:r>
            <a:r>
              <a:rPr lang="en-IN" sz="1300" dirty="0"/>
              <a:t> + 1): FREE".</a:t>
            </a:r>
            <a:br>
              <a:rPr lang="en-IN" sz="1300" dirty="0"/>
            </a:br>
            <a:r>
              <a:rPr lang="en-IN" sz="1300" dirty="0"/>
              <a:t>Step 1.2: Else, write "Runway (</a:t>
            </a:r>
            <a:r>
              <a:rPr lang="en-IN" sz="1300" dirty="0" err="1"/>
              <a:t>i</a:t>
            </a:r>
            <a:r>
              <a:rPr lang="en-IN" sz="1300" dirty="0"/>
              <a:t> + 1): OCCUPIED".</a:t>
            </a:r>
            <a:br>
              <a:rPr lang="en-IN" sz="1300" dirty="0"/>
            </a:br>
            <a:r>
              <a:rPr lang="en-IN" sz="1300" dirty="0"/>
              <a:t>[End of If]</a:t>
            </a:r>
            <a:br>
              <a:rPr lang="en-IN" sz="1300" dirty="0"/>
            </a:br>
            <a:r>
              <a:rPr lang="en-IN" sz="1300" dirty="0"/>
              <a:t>[End of Loop]</a:t>
            </a:r>
            <a:br>
              <a:rPr lang="en-IN" sz="1300" dirty="0"/>
            </a:br>
            <a:r>
              <a:rPr lang="en-IN" sz="1300" dirty="0"/>
              <a:t>Step 2: Write </a:t>
            </a:r>
            <a:r>
              <a:rPr lang="en-IN" sz="1300" dirty="0" err="1"/>
              <a:t>prioritySize</a:t>
            </a:r>
            <a:r>
              <a:rPr lang="en-IN" sz="1300" dirty="0"/>
              <a:t> as the waiting emergency flights.</a:t>
            </a:r>
            <a:br>
              <a:rPr lang="en-IN" sz="1300" dirty="0"/>
            </a:br>
            <a:r>
              <a:rPr lang="en-IN" sz="1300" dirty="0"/>
              <a:t>Step 3: If front = -1 or front &gt; rear, then write "Waiting normal flights: 0".</a:t>
            </a:r>
            <a:br>
              <a:rPr lang="en-IN" sz="1300" dirty="0"/>
            </a:br>
            <a:r>
              <a:rPr lang="en-IN" sz="1300" dirty="0"/>
              <a:t>Step 4: Else, write rear - front + 1 as the waiting normal flights.</a:t>
            </a:r>
            <a:br>
              <a:rPr lang="en-IN" sz="1300" dirty="0"/>
            </a:br>
            <a:r>
              <a:rPr lang="en-IN" sz="1300" dirty="0"/>
              <a:t>[End of If]</a:t>
            </a:r>
            <a:br>
              <a:rPr lang="en-IN" sz="1300" dirty="0"/>
            </a:br>
            <a:r>
              <a:rPr lang="en-IN" sz="1300" dirty="0"/>
              <a:t>Step 5: Return</a:t>
            </a:r>
          </a:p>
          <a:p>
            <a:endParaRPr lang="en-IN" sz="1300" dirty="0"/>
          </a:p>
        </p:txBody>
      </p:sp>
      <p:sp>
        <p:nvSpPr>
          <p:cNvPr id="4" name="TextBox 3">
            <a:extLst>
              <a:ext uri="{FF2B5EF4-FFF2-40B4-BE49-F238E27FC236}">
                <a16:creationId xmlns:a16="http://schemas.microsoft.com/office/drawing/2014/main" id="{64C9F8D4-9E0D-E5E5-BCF3-83611289BD16}"/>
              </a:ext>
            </a:extLst>
          </p:cNvPr>
          <p:cNvSpPr txBox="1"/>
          <p:nvPr/>
        </p:nvSpPr>
        <p:spPr>
          <a:xfrm>
            <a:off x="4142935" y="2571750"/>
            <a:ext cx="4860388" cy="2693045"/>
          </a:xfrm>
          <a:prstGeom prst="rect">
            <a:avLst/>
          </a:prstGeom>
          <a:noFill/>
        </p:spPr>
        <p:txBody>
          <a:bodyPr wrap="square" rtlCol="0">
            <a:spAutoFit/>
          </a:bodyPr>
          <a:lstStyle/>
          <a:p>
            <a:r>
              <a:rPr lang="en-IN" sz="1300" b="1" dirty="0"/>
              <a:t>9. Algorithm for </a:t>
            </a:r>
            <a:r>
              <a:rPr lang="en-IN" sz="1300" b="1" dirty="0" err="1"/>
              <a:t>displayRecords</a:t>
            </a:r>
            <a:r>
              <a:rPr lang="en-IN" sz="1300" b="1" dirty="0"/>
              <a:t>()</a:t>
            </a:r>
          </a:p>
          <a:p>
            <a:r>
              <a:rPr lang="en-IN" sz="1300" dirty="0"/>
              <a:t>Step 1: If </a:t>
            </a:r>
            <a:r>
              <a:rPr lang="en-IN" sz="1300" dirty="0" err="1"/>
              <a:t>flightRecords</a:t>
            </a:r>
            <a:r>
              <a:rPr lang="en-IN" sz="1300" dirty="0"/>
              <a:t> = NULL, then:</a:t>
            </a:r>
            <a:br>
              <a:rPr lang="en-IN" sz="1300" dirty="0"/>
            </a:br>
            <a:r>
              <a:rPr lang="en-IN" sz="1300" dirty="0"/>
              <a:t>Write "No completed flights"</a:t>
            </a:r>
            <a:br>
              <a:rPr lang="en-IN" sz="1300" dirty="0"/>
            </a:br>
            <a:r>
              <a:rPr lang="en-IN" sz="1300" dirty="0"/>
              <a:t>Return</a:t>
            </a:r>
            <a:br>
              <a:rPr lang="en-IN" sz="1300" dirty="0"/>
            </a:br>
            <a:r>
              <a:rPr lang="en-IN" sz="1300" dirty="0"/>
              <a:t>[End of If]</a:t>
            </a:r>
            <a:br>
              <a:rPr lang="en-IN" sz="1300" dirty="0"/>
            </a:br>
            <a:r>
              <a:rPr lang="en-IN" sz="1300" dirty="0"/>
              <a:t>Step 2: Set temp = </a:t>
            </a:r>
            <a:r>
              <a:rPr lang="en-IN" sz="1300" dirty="0" err="1"/>
              <a:t>flightRecords</a:t>
            </a:r>
            <a:r>
              <a:rPr lang="en-IN" sz="1300" dirty="0"/>
              <a:t>.</a:t>
            </a:r>
            <a:br>
              <a:rPr lang="en-IN" sz="1300" dirty="0"/>
            </a:br>
            <a:r>
              <a:rPr lang="en-IN" sz="1300" dirty="0"/>
              <a:t>Step 3: Repeat while temp != NULL:</a:t>
            </a:r>
            <a:br>
              <a:rPr lang="en-IN" sz="1300" dirty="0"/>
            </a:br>
            <a:r>
              <a:rPr lang="en-IN" sz="1300" dirty="0"/>
              <a:t>Step 3.1: Write temp-&gt;</a:t>
            </a:r>
            <a:r>
              <a:rPr lang="en-IN" sz="1300" dirty="0" err="1"/>
              <a:t>data.flightNo</a:t>
            </a:r>
            <a:r>
              <a:rPr lang="en-IN" sz="1300" dirty="0"/>
              <a:t>, temp-&gt;data.name and temp-&gt;</a:t>
            </a:r>
            <a:r>
              <a:rPr lang="en-IN" sz="1300" dirty="0" err="1"/>
              <a:t>data.operation</a:t>
            </a:r>
            <a:r>
              <a:rPr lang="en-IN" sz="1300" dirty="0"/>
              <a:t>.</a:t>
            </a:r>
            <a:br>
              <a:rPr lang="en-IN" sz="1300" dirty="0"/>
            </a:br>
            <a:r>
              <a:rPr lang="en-IN" sz="1300" dirty="0"/>
              <a:t>Step 3.2: Set temp = temp-&gt;next.</a:t>
            </a:r>
            <a:br>
              <a:rPr lang="en-IN" sz="1300" dirty="0"/>
            </a:br>
            <a:r>
              <a:rPr lang="en-IN" sz="1300" dirty="0"/>
              <a:t>[End of Loop]</a:t>
            </a:r>
            <a:br>
              <a:rPr lang="en-IN" sz="1300" dirty="0"/>
            </a:br>
            <a:r>
              <a:rPr lang="en-IN" sz="1300" dirty="0"/>
              <a:t>Step 4: Return</a:t>
            </a:r>
          </a:p>
          <a:p>
            <a:endParaRPr lang="en-IN" sz="1300" dirty="0"/>
          </a:p>
        </p:txBody>
      </p:sp>
    </p:spTree>
    <p:extLst>
      <p:ext uri="{BB962C8B-B14F-4D97-AF65-F5344CB8AC3E}">
        <p14:creationId xmlns:p14="http://schemas.microsoft.com/office/powerpoint/2010/main" val="2006650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a:solidFill>
                  <a:schemeClr val="tx1"/>
                </a:solidFill>
              </a:rPr>
              <a:t>Time Complexity Analysis</a:t>
            </a: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l"/>
            <a:fld id="{F7021451-1387-4CA6-816F-3879F97B5CBC}" type="slidenum">
              <a:rPr lang="en-US" b="0"/>
              <a:t>11</a:t>
            </a:fld>
            <a:endParaRPr lang="en-US"/>
          </a:p>
        </p:txBody>
      </p:sp>
      <p:graphicFrame>
        <p:nvGraphicFramePr>
          <p:cNvPr id="6" name="Table 0">
            <a:extLst>
              <a:ext uri="{FF2B5EF4-FFF2-40B4-BE49-F238E27FC236}">
                <a16:creationId xmlns:a16="http://schemas.microsoft.com/office/drawing/2014/main" id="{5933ADE0-39B9-CEC4-1A4F-509A794F09A7}"/>
              </a:ext>
            </a:extLst>
          </p:cNvPr>
          <p:cNvGraphicFramePr>
            <a:graphicFrameLocks noGrp="1"/>
          </p:cNvGraphicFramePr>
          <p:nvPr>
            <p:extLst>
              <p:ext uri="{D42A27DB-BD31-4B8C-83A1-F6EECF244321}">
                <p14:modId xmlns:p14="http://schemas.microsoft.com/office/powerpoint/2010/main" val="163606676"/>
              </p:ext>
            </p:extLst>
          </p:nvPr>
        </p:nvGraphicFramePr>
        <p:xfrm>
          <a:off x="457200" y="1150034"/>
          <a:ext cx="8046720" cy="3017520"/>
        </p:xfrm>
        <a:graphic>
          <a:graphicData uri="http://schemas.openxmlformats.org/drawingml/2006/table">
            <a:tbl>
              <a:tblPr/>
              <a:tblGrid>
                <a:gridCol w="4114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74320">
                <a:tc>
                  <a:txBody>
                    <a:bodyPr/>
                    <a:lstStyle/>
                    <a:p>
                      <a:pPr marL="0" indent="0">
                        <a:buNone/>
                      </a:pPr>
                      <a:r>
                        <a:rPr lang="en-US" sz="1250" b="1" dirty="0">
                          <a:solidFill>
                            <a:srgbClr val="F4F1EC"/>
                          </a:solidFill>
                        </a:rPr>
                        <a:t>Operation</a:t>
                      </a:r>
                      <a:endParaRPr lang="en-US" sz="1250" dirty="0"/>
                    </a:p>
                  </a:txBody>
                  <a:tcPr marT="0" marB="0" anchor="ctr">
                    <a:lnL w="0" cap="flat" cmpd="sng" algn="ctr">
                      <a:noFill/>
                    </a:lnL>
                    <a:lnR w="0" cap="flat" cmpd="sng" algn="ctr">
                      <a:noFill/>
                    </a:lnR>
                    <a:lnT w="0" cap="flat" cmpd="sng" algn="ctr">
                      <a:noFill/>
                    </a:lnT>
                    <a:lnB w="9525" cap="flat" cmpd="sng" algn="ctr">
                      <a:solidFill>
                        <a:srgbClr val="C9C2B8"/>
                      </a:solidFill>
                      <a:prstDash val="solid"/>
                      <a:round/>
                      <a:headEnd type="none" w="med" len="med"/>
                      <a:tailEnd type="none" w="med" len="med"/>
                    </a:lnB>
                    <a:solidFill>
                      <a:schemeClr val="tx1"/>
                    </a:solidFill>
                  </a:tcPr>
                </a:tc>
                <a:tc>
                  <a:txBody>
                    <a:bodyPr/>
                    <a:lstStyle/>
                    <a:p>
                      <a:pPr marL="0" indent="0">
                        <a:buNone/>
                      </a:pPr>
                      <a:r>
                        <a:rPr lang="en-US" sz="1250" b="1" dirty="0">
                          <a:solidFill>
                            <a:srgbClr val="F4F1EC"/>
                          </a:solidFill>
                        </a:rPr>
                        <a:t>Structure</a:t>
                      </a:r>
                      <a:endParaRPr lang="en-US" sz="1250" dirty="0"/>
                    </a:p>
                  </a:txBody>
                  <a:tcPr marT="0" marB="0" anchor="ctr">
                    <a:lnL w="0" cap="flat" cmpd="sng" algn="ctr">
                      <a:noFill/>
                    </a:lnL>
                    <a:lnR w="0" cap="flat" cmpd="sng" algn="ctr">
                      <a:noFill/>
                    </a:lnR>
                    <a:lnT w="0" cap="flat" cmpd="sng" algn="ctr">
                      <a:noFill/>
                    </a:lnT>
                    <a:lnB w="9525" cap="flat" cmpd="sng" algn="ctr">
                      <a:solidFill>
                        <a:srgbClr val="C9C2B8"/>
                      </a:solidFill>
                      <a:prstDash val="solid"/>
                      <a:round/>
                      <a:headEnd type="none" w="med" len="med"/>
                      <a:tailEnd type="none" w="med" len="med"/>
                    </a:lnB>
                    <a:solidFill>
                      <a:schemeClr val="tx1"/>
                    </a:solidFill>
                  </a:tcPr>
                </a:tc>
                <a:tc>
                  <a:txBody>
                    <a:bodyPr/>
                    <a:lstStyle/>
                    <a:p>
                      <a:pPr marL="0" indent="0">
                        <a:buNone/>
                      </a:pPr>
                      <a:r>
                        <a:rPr lang="en-US" sz="1250" b="1" dirty="0">
                          <a:solidFill>
                            <a:srgbClr val="F4F1EC"/>
                          </a:solidFill>
                        </a:rPr>
                        <a:t>Time</a:t>
                      </a:r>
                      <a:endParaRPr lang="en-US" sz="1250" dirty="0"/>
                    </a:p>
                  </a:txBody>
                  <a:tcPr marT="0" marB="0" anchor="ctr">
                    <a:lnL w="0" cap="flat" cmpd="sng" algn="ctr">
                      <a:noFill/>
                    </a:lnL>
                    <a:lnR w="0" cap="flat" cmpd="sng" algn="ctr">
                      <a:noFill/>
                    </a:lnR>
                    <a:lnT w="0" cap="flat" cmpd="sng" algn="ctr">
                      <a:noFill/>
                    </a:lnT>
                    <a:lnB w="9525" cap="flat" cmpd="sng" algn="ctr">
                      <a:solidFill>
                        <a:srgbClr val="C9C2B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274320">
                <a:tc>
                  <a:txBody>
                    <a:bodyPr/>
                    <a:lstStyle/>
                    <a:p>
                      <a:pPr marL="0" indent="0">
                        <a:buNone/>
                      </a:pPr>
                      <a:r>
                        <a:rPr lang="en-US" sz="1250" dirty="0">
                          <a:solidFill>
                            <a:srgbClr val="2B2B2B"/>
                          </a:solidFill>
                        </a:rPr>
                        <a:t>Add flight / request landing or takeoff</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O(1)</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250" dirty="0">
                          <a:solidFill>
                            <a:srgbClr val="2B2B2B"/>
                          </a:solidFill>
                        </a:rPr>
                        <a:t>Process normal flight (dequeue)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O(1)</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250" dirty="0">
                          <a:solidFill>
                            <a:srgbClr val="2B2B2B"/>
                          </a:solidFill>
                        </a:rPr>
                        <a:t>Emergency landing (sorted insert)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Priority 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250" dirty="0">
                          <a:solidFill>
                            <a:srgbClr val="2B2B2B"/>
                          </a:solidFill>
                        </a:rPr>
                        <a:t>Process emergency flight (remove + shift)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Priority Queue</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250" dirty="0">
                          <a:solidFill>
                            <a:srgbClr val="2B2B2B"/>
                          </a:solidFill>
                        </a:rPr>
                        <a:t>Find free runway</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Array</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O(R) = O(1), R = 3</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1250" dirty="0">
                          <a:solidFill>
                            <a:srgbClr val="2B2B2B"/>
                          </a:solidFill>
                        </a:rPr>
                        <a:t>Add completed record</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Linked List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O(1)</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0" indent="0">
                        <a:buNone/>
                      </a:pPr>
                      <a:r>
                        <a:rPr lang="en-US" sz="1250" dirty="0">
                          <a:solidFill>
                            <a:srgbClr val="2B2B2B"/>
                          </a:solidFill>
                        </a:rPr>
                        <a:t>Search flight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Queue, PQ, List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marL="0" indent="0">
                        <a:buNone/>
                      </a:pPr>
                      <a:r>
                        <a:rPr lang="en-US" sz="1250" dirty="0">
                          <a:solidFill>
                            <a:srgbClr val="2B2B2B"/>
                          </a:solidFill>
                        </a:rPr>
                        <a:t>Cancel flight</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Queue / PQ</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marL="0" indent="0">
                        <a:buNone/>
                      </a:pPr>
                      <a:r>
                        <a:rPr lang="en-US" sz="1250" dirty="0">
                          <a:solidFill>
                            <a:srgbClr val="2B2B2B"/>
                          </a:solidFill>
                        </a:rPr>
                        <a:t>Display waiting flights / records</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All</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O(n)</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09"/>
                  </a:ext>
                </a:extLst>
              </a:tr>
              <a:tr h="274320">
                <a:tc>
                  <a:txBody>
                    <a:bodyPr/>
                    <a:lstStyle/>
                    <a:p>
                      <a:pPr marL="0" indent="0">
                        <a:buNone/>
                      </a:pPr>
                      <a:r>
                        <a:rPr lang="en-US" sz="1250" dirty="0">
                          <a:solidFill>
                            <a:srgbClr val="2B2B2B"/>
                          </a:solidFill>
                        </a:rPr>
                        <a:t>Airport status</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Array + counters</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tc>
                  <a:txBody>
                    <a:bodyPr/>
                    <a:lstStyle/>
                    <a:p>
                      <a:pPr marL="0" indent="0">
                        <a:buNone/>
                      </a:pPr>
                      <a:r>
                        <a:rPr lang="en-US" sz="1250" dirty="0">
                          <a:solidFill>
                            <a:srgbClr val="2B2B2B"/>
                          </a:solidFill>
                        </a:rPr>
                        <a:t>O(1)</a:t>
                      </a:r>
                      <a:endParaRPr lang="en-US" sz="1250" dirty="0"/>
                    </a:p>
                  </a:txBody>
                  <a:tcPr marT="0" marB="0" anchor="ctr">
                    <a:lnL w="0" cap="flat" cmpd="sng" algn="ctr">
                      <a:noFill/>
                    </a:lnL>
                    <a:lnR w="0" cap="flat" cmpd="sng" algn="ctr">
                      <a:noFill/>
                    </a:lnR>
                    <a:lnT w="9525" cap="flat" cmpd="sng" algn="ctr">
                      <a:solidFill>
                        <a:srgbClr val="C9C2B8"/>
                      </a:solidFill>
                      <a:prstDash val="solid"/>
                      <a:round/>
                      <a:headEnd type="none" w="med" len="med"/>
                      <a:tailEnd type="none" w="med" len="med"/>
                    </a:lnT>
                    <a:lnB w="9525" cap="flat" cmpd="sng" algn="ctr">
                      <a:solidFill>
                        <a:srgbClr val="C9C2B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1" name="Text 5">
            <a:extLst>
              <a:ext uri="{FF2B5EF4-FFF2-40B4-BE49-F238E27FC236}">
                <a16:creationId xmlns:a16="http://schemas.microsoft.com/office/drawing/2014/main" id="{E7F6AEE0-C5C5-8FD8-EAE8-99E8698A4C9E}"/>
              </a:ext>
            </a:extLst>
          </p:cNvPr>
          <p:cNvSpPr txBox="1"/>
          <p:nvPr/>
        </p:nvSpPr>
        <p:spPr>
          <a:xfrm>
            <a:off x="502920" y="4346917"/>
            <a:ext cx="5363308" cy="228600"/>
          </a:xfrm>
          <a:prstGeom prst="rect">
            <a:avLst/>
          </a:prstGeom>
          <a:noFill/>
          <a:ln/>
        </p:spPr>
        <p:txBody>
          <a:bodyPr wrap="square" lIns="0" tIns="0" rIns="0" bIns="0" rtlCol="0" anchor="t"/>
          <a:lstStyle/>
          <a:p>
            <a:pPr marL="0" indent="0">
              <a:buNone/>
            </a:pPr>
            <a:r>
              <a:rPr lang="en-US" sz="1150" i="1" dirty="0">
                <a:solidFill>
                  <a:srgbClr val="6B655E"/>
                </a:solidFill>
              </a:rPr>
              <a:t>n = flights in the structure.  Space: O(MAX) for the queues, O(k) for k completed flights.</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System Flowchart</a:t>
            </a:r>
            <a:endParaRPr lang="en-US" sz="3000" dirty="0"/>
          </a:p>
        </p:txBody>
      </p:sp>
      <p:sp>
        <p:nvSpPr>
          <p:cNvPr id="3" name="Text 1"/>
          <p:cNvSpPr txBox="1"/>
          <p:nvPr/>
        </p:nvSpPr>
        <p:spPr>
          <a:xfrm>
            <a:off x="411480" y="1143000"/>
            <a:ext cx="1371600" cy="320040"/>
          </a:xfrm>
          <a:prstGeom prst="rect">
            <a:avLst/>
          </a:prstGeom>
          <a:noFill/>
          <a:ln/>
        </p:spPr>
        <p:txBody>
          <a:bodyPr wrap="square" lIns="0" tIns="0" rIns="0" bIns="0" rtlCol="0" anchor="ctr"/>
          <a:lstStyle/>
          <a:p>
            <a:pPr marL="0" indent="0" algn="ctr">
              <a:buNone/>
            </a:pPr>
            <a:r>
              <a:rPr lang="en-US" sz="1200" b="1" dirty="0">
                <a:solidFill>
                  <a:schemeClr val="accent1"/>
                </a:solidFill>
              </a:rPr>
              <a:t>1  User Request</a:t>
            </a:r>
            <a:endParaRPr lang="en-US" sz="1200" dirty="0"/>
          </a:p>
        </p:txBody>
      </p:sp>
      <p:sp>
        <p:nvSpPr>
          <p:cNvPr id="4" name="Text 2"/>
          <p:cNvSpPr txBox="1"/>
          <p:nvPr/>
        </p:nvSpPr>
        <p:spPr>
          <a:xfrm>
            <a:off x="1965960" y="1143000"/>
            <a:ext cx="1554480" cy="320040"/>
          </a:xfrm>
          <a:prstGeom prst="rect">
            <a:avLst/>
          </a:prstGeom>
          <a:noFill/>
          <a:ln/>
        </p:spPr>
        <p:txBody>
          <a:bodyPr wrap="square" lIns="0" tIns="0" rIns="0" bIns="0" rtlCol="0" anchor="ctr"/>
          <a:lstStyle/>
          <a:p>
            <a:pPr marL="0" indent="0" algn="ctr">
              <a:buNone/>
            </a:pPr>
            <a:r>
              <a:rPr lang="en-US" sz="1200" b="1" dirty="0">
                <a:solidFill>
                  <a:schemeClr val="accent1"/>
                </a:solidFill>
              </a:rPr>
              <a:t>2  Classification</a:t>
            </a:r>
            <a:endParaRPr lang="en-US" sz="1200" dirty="0"/>
          </a:p>
        </p:txBody>
      </p:sp>
      <p:sp>
        <p:nvSpPr>
          <p:cNvPr id="5" name="Text 3"/>
          <p:cNvSpPr txBox="1"/>
          <p:nvPr/>
        </p:nvSpPr>
        <p:spPr>
          <a:xfrm>
            <a:off x="3703320" y="1143000"/>
            <a:ext cx="1737360" cy="320040"/>
          </a:xfrm>
          <a:prstGeom prst="rect">
            <a:avLst/>
          </a:prstGeom>
          <a:noFill/>
          <a:ln/>
        </p:spPr>
        <p:txBody>
          <a:bodyPr wrap="square" lIns="0" tIns="0" rIns="0" bIns="0" rtlCol="0" anchor="ctr"/>
          <a:lstStyle/>
          <a:p>
            <a:pPr marL="0" indent="0" algn="ctr">
              <a:buNone/>
            </a:pPr>
            <a:r>
              <a:rPr lang="en-US" sz="1200" b="1" dirty="0">
                <a:solidFill>
                  <a:schemeClr val="accent1"/>
                </a:solidFill>
              </a:rPr>
              <a:t>3  Priority Handling</a:t>
            </a:r>
            <a:endParaRPr lang="en-US" sz="1200" dirty="0"/>
          </a:p>
        </p:txBody>
      </p:sp>
      <p:sp>
        <p:nvSpPr>
          <p:cNvPr id="6" name="Text 4"/>
          <p:cNvSpPr txBox="1"/>
          <p:nvPr/>
        </p:nvSpPr>
        <p:spPr>
          <a:xfrm>
            <a:off x="5623560" y="1143000"/>
            <a:ext cx="1554480" cy="320040"/>
          </a:xfrm>
          <a:prstGeom prst="rect">
            <a:avLst/>
          </a:prstGeom>
          <a:noFill/>
          <a:ln/>
        </p:spPr>
        <p:txBody>
          <a:bodyPr wrap="square" lIns="0" tIns="0" rIns="0" bIns="0" rtlCol="0" anchor="ctr"/>
          <a:lstStyle/>
          <a:p>
            <a:pPr marL="0" indent="0" algn="ctr">
              <a:buNone/>
            </a:pPr>
            <a:r>
              <a:rPr lang="en-US" sz="1200" b="1" dirty="0">
                <a:solidFill>
                  <a:schemeClr val="accent1"/>
                </a:solidFill>
              </a:rPr>
              <a:t>4  Runway Allocation</a:t>
            </a:r>
            <a:endParaRPr lang="en-US" sz="1200" dirty="0"/>
          </a:p>
        </p:txBody>
      </p:sp>
      <p:sp>
        <p:nvSpPr>
          <p:cNvPr id="7" name="Text 5"/>
          <p:cNvSpPr txBox="1"/>
          <p:nvPr/>
        </p:nvSpPr>
        <p:spPr>
          <a:xfrm>
            <a:off x="7360920" y="1143000"/>
            <a:ext cx="1371600" cy="320040"/>
          </a:xfrm>
          <a:prstGeom prst="rect">
            <a:avLst/>
          </a:prstGeom>
          <a:noFill/>
          <a:ln/>
        </p:spPr>
        <p:txBody>
          <a:bodyPr wrap="square" lIns="0" tIns="0" rIns="0" bIns="0" rtlCol="0" anchor="ctr"/>
          <a:lstStyle/>
          <a:p>
            <a:pPr marL="0" indent="0" algn="ctr">
              <a:buNone/>
            </a:pPr>
            <a:r>
              <a:rPr lang="en-US" sz="1200" b="1" dirty="0">
                <a:solidFill>
                  <a:schemeClr val="accent1"/>
                </a:solidFill>
              </a:rPr>
              <a:t>5  Record Storage</a:t>
            </a:r>
            <a:endParaRPr lang="en-US" sz="1200" dirty="0"/>
          </a:p>
        </p:txBody>
      </p:sp>
      <p:sp>
        <p:nvSpPr>
          <p:cNvPr id="8" name="User request"/>
          <p:cNvSpPr txBox="1"/>
          <p:nvPr/>
        </p:nvSpPr>
        <p:spPr>
          <a:xfrm>
            <a:off x="502920" y="2514600"/>
            <a:ext cx="1188720" cy="822960"/>
          </a:xfrm>
          <a:prstGeom prst="roundRect">
            <a:avLst>
              <a:gd name="adj" fmla="val 11111"/>
            </a:avLst>
          </a:prstGeom>
          <a:solidFill>
            <a:schemeClr val="accent1"/>
          </a:solidFill>
          <a:ln/>
        </p:spPr>
        <p:txBody>
          <a:bodyPr wrap="square" lIns="635" tIns="635" rIns="635" bIns="635" rtlCol="0" anchor="ctr"/>
          <a:lstStyle/>
          <a:p>
            <a:pPr marL="0" indent="0" algn="ctr">
              <a:buNone/>
            </a:pPr>
            <a:r>
              <a:rPr lang="en-US" sz="1300" b="1" dirty="0">
                <a:solidFill>
                  <a:schemeClr val="bg1"/>
                </a:solidFill>
              </a:rPr>
              <a:t>Menu choice + flight details</a:t>
            </a:r>
            <a:endParaRPr lang="en-US" sz="1300" dirty="0"/>
          </a:p>
        </p:txBody>
      </p:sp>
      <p:sp>
        <p:nvSpPr>
          <p:cNvPr id="9" name="Shape 7"/>
          <p:cNvSpPr/>
          <p:nvPr/>
        </p:nvSpPr>
        <p:spPr>
          <a:xfrm>
            <a:off x="1709928" y="2926080"/>
            <a:ext cx="329184" cy="0"/>
          </a:xfrm>
          <a:prstGeom prst="line">
            <a:avLst/>
          </a:prstGeom>
          <a:noFill/>
          <a:ln w="22225">
            <a:solidFill>
              <a:schemeClr val="tx2"/>
            </a:solidFill>
            <a:prstDash val="solid"/>
            <a:tailEnd type="triangle"/>
          </a:ln>
        </p:spPr>
        <p:txBody>
          <a:bodyPr/>
          <a:lstStyle/>
          <a:p>
            <a:endParaRPr lang="en-IN"/>
          </a:p>
        </p:txBody>
      </p:sp>
      <p:sp>
        <p:nvSpPr>
          <p:cNvPr id="10" name="Classification decision"/>
          <p:cNvSpPr/>
          <p:nvPr/>
        </p:nvSpPr>
        <p:spPr>
          <a:xfrm>
            <a:off x="2057400" y="2286000"/>
            <a:ext cx="1371600" cy="1280160"/>
          </a:xfrm>
          <a:prstGeom prst="diamond">
            <a:avLst/>
          </a:prstGeom>
          <a:solidFill>
            <a:schemeClr val="tx1"/>
          </a:solidFill>
          <a:ln w="12700">
            <a:solidFill>
              <a:schemeClr val="tx1"/>
            </a:solidFill>
            <a:prstDash val="solid"/>
          </a:ln>
        </p:spPr>
        <p:txBody>
          <a:bodyPr/>
          <a:lstStyle/>
          <a:p>
            <a:endParaRPr lang="en-IN"/>
          </a:p>
        </p:txBody>
      </p:sp>
      <p:sp>
        <p:nvSpPr>
          <p:cNvPr id="11" name="Classification decision text"/>
          <p:cNvSpPr txBox="1"/>
          <p:nvPr/>
        </p:nvSpPr>
        <p:spPr>
          <a:xfrm>
            <a:off x="2057400" y="2697480"/>
            <a:ext cx="1371600" cy="457200"/>
          </a:xfrm>
          <a:prstGeom prst="rect">
            <a:avLst/>
          </a:prstGeom>
          <a:noFill/>
          <a:ln/>
        </p:spPr>
        <p:txBody>
          <a:bodyPr wrap="square" lIns="0" tIns="0" rIns="0" bIns="0" rtlCol="0" anchor="ctr"/>
          <a:lstStyle/>
          <a:p>
            <a:pPr marL="0" indent="0" algn="ctr">
              <a:buNone/>
            </a:pPr>
            <a:r>
              <a:rPr lang="en-US" sz="1200" b="1" dirty="0">
                <a:solidFill>
                  <a:schemeClr val="bg1"/>
                </a:solidFill>
              </a:rPr>
              <a:t>Emergency?</a:t>
            </a:r>
            <a:endParaRPr lang="en-US" sz="1200" dirty="0"/>
          </a:p>
        </p:txBody>
      </p:sp>
      <p:sp>
        <p:nvSpPr>
          <p:cNvPr id="12" name="Shape 10"/>
          <p:cNvSpPr/>
          <p:nvPr/>
        </p:nvSpPr>
        <p:spPr>
          <a:xfrm flipV="1">
            <a:off x="3447288" y="2359152"/>
            <a:ext cx="329184" cy="566928"/>
          </a:xfrm>
          <a:prstGeom prst="line">
            <a:avLst/>
          </a:prstGeom>
          <a:noFill/>
          <a:ln w="22225">
            <a:solidFill>
              <a:schemeClr val="tx2"/>
            </a:solidFill>
            <a:prstDash val="solid"/>
            <a:tailEnd type="triangle"/>
          </a:ln>
        </p:spPr>
        <p:txBody>
          <a:bodyPr/>
          <a:lstStyle/>
          <a:p>
            <a:endParaRPr lang="en-IN"/>
          </a:p>
        </p:txBody>
      </p:sp>
      <p:sp>
        <p:nvSpPr>
          <p:cNvPr id="13" name="Shape 11"/>
          <p:cNvSpPr/>
          <p:nvPr/>
        </p:nvSpPr>
        <p:spPr>
          <a:xfrm>
            <a:off x="3447288" y="2926080"/>
            <a:ext cx="329184" cy="594360"/>
          </a:xfrm>
          <a:prstGeom prst="line">
            <a:avLst/>
          </a:prstGeom>
          <a:noFill/>
          <a:ln w="22225">
            <a:solidFill>
              <a:schemeClr val="tx2"/>
            </a:solidFill>
            <a:prstDash val="solid"/>
            <a:tailEnd type="triangle"/>
          </a:ln>
        </p:spPr>
        <p:txBody>
          <a:bodyPr/>
          <a:lstStyle/>
          <a:p>
            <a:endParaRPr lang="en-IN"/>
          </a:p>
        </p:txBody>
      </p:sp>
      <p:sp>
        <p:nvSpPr>
          <p:cNvPr id="14" name="Text 12"/>
          <p:cNvSpPr txBox="1"/>
          <p:nvPr/>
        </p:nvSpPr>
        <p:spPr>
          <a:xfrm>
            <a:off x="3310128" y="2331720"/>
            <a:ext cx="365760" cy="228600"/>
          </a:xfrm>
          <a:prstGeom prst="rect">
            <a:avLst/>
          </a:prstGeom>
          <a:noFill/>
          <a:ln/>
        </p:spPr>
        <p:txBody>
          <a:bodyPr wrap="square" lIns="0" tIns="0" rIns="0" bIns="0" rtlCol="0" anchor="ctr"/>
          <a:lstStyle/>
          <a:p>
            <a:pPr marL="0" indent="0">
              <a:buNone/>
            </a:pPr>
            <a:r>
              <a:rPr lang="en-US" sz="1100" b="1" dirty="0">
                <a:solidFill>
                  <a:schemeClr val="tx2"/>
                </a:solidFill>
              </a:rPr>
              <a:t>Yes</a:t>
            </a:r>
            <a:endParaRPr lang="en-US" sz="1100" dirty="0"/>
          </a:p>
        </p:txBody>
      </p:sp>
      <p:sp>
        <p:nvSpPr>
          <p:cNvPr id="15" name="Text 13"/>
          <p:cNvSpPr txBox="1"/>
          <p:nvPr/>
        </p:nvSpPr>
        <p:spPr>
          <a:xfrm>
            <a:off x="3337560" y="3401568"/>
            <a:ext cx="365760" cy="228600"/>
          </a:xfrm>
          <a:prstGeom prst="rect">
            <a:avLst/>
          </a:prstGeom>
          <a:noFill/>
          <a:ln/>
        </p:spPr>
        <p:txBody>
          <a:bodyPr wrap="square" lIns="0" tIns="0" rIns="0" bIns="0" rtlCol="0" anchor="ctr"/>
          <a:lstStyle/>
          <a:p>
            <a:pPr marL="0" indent="0">
              <a:buNone/>
            </a:pPr>
            <a:r>
              <a:rPr lang="en-US" sz="1100" b="1" dirty="0">
                <a:solidFill>
                  <a:schemeClr val="tx2"/>
                </a:solidFill>
              </a:rPr>
              <a:t>No</a:t>
            </a:r>
            <a:endParaRPr lang="en-US" sz="1100" dirty="0"/>
          </a:p>
        </p:txBody>
      </p:sp>
      <p:sp>
        <p:nvSpPr>
          <p:cNvPr id="16" name="Priority queue box"/>
          <p:cNvSpPr txBox="1"/>
          <p:nvPr/>
        </p:nvSpPr>
        <p:spPr>
          <a:xfrm>
            <a:off x="3794760" y="1920240"/>
            <a:ext cx="1554480" cy="822960"/>
          </a:xfrm>
          <a:prstGeom prst="roundRect">
            <a:avLst>
              <a:gd name="adj" fmla="val 11111"/>
            </a:avLst>
          </a:prstGeom>
          <a:solidFill>
            <a:schemeClr val="accent2"/>
          </a:solidFill>
          <a:ln/>
        </p:spPr>
        <p:txBody>
          <a:bodyPr wrap="square" lIns="635" tIns="635" rIns="635" bIns="635" rtlCol="0" anchor="ctr"/>
          <a:lstStyle/>
          <a:p>
            <a:pPr marL="0" indent="0" algn="ctr">
              <a:buNone/>
            </a:pPr>
            <a:r>
              <a:rPr lang="en-US" sz="1300" b="1" dirty="0">
                <a:solidFill>
                  <a:schemeClr val="bg1"/>
                </a:solidFill>
              </a:rPr>
              <a:t>Priority Queue (served first)</a:t>
            </a:r>
            <a:endParaRPr lang="en-US" sz="1300" dirty="0"/>
          </a:p>
        </p:txBody>
      </p:sp>
      <p:sp>
        <p:nvSpPr>
          <p:cNvPr id="17" name="Normal queue box"/>
          <p:cNvSpPr txBox="1"/>
          <p:nvPr/>
        </p:nvSpPr>
        <p:spPr>
          <a:xfrm>
            <a:off x="3794760" y="3108960"/>
            <a:ext cx="1554480" cy="822960"/>
          </a:xfrm>
          <a:prstGeom prst="roundRect">
            <a:avLst>
              <a:gd name="adj" fmla="val 11111"/>
            </a:avLst>
          </a:prstGeom>
          <a:solidFill>
            <a:schemeClr val="accent1"/>
          </a:solidFill>
          <a:ln/>
        </p:spPr>
        <p:txBody>
          <a:bodyPr wrap="square" lIns="635" tIns="635" rIns="635" bIns="635" rtlCol="0" anchor="ctr"/>
          <a:lstStyle/>
          <a:p>
            <a:pPr marL="0" indent="0" algn="ctr">
              <a:buNone/>
            </a:pPr>
            <a:r>
              <a:rPr lang="en-US" sz="1300" b="1" dirty="0">
                <a:solidFill>
                  <a:schemeClr val="bg1"/>
                </a:solidFill>
              </a:rPr>
              <a:t>Normal Queue (FIFO)</a:t>
            </a:r>
            <a:endParaRPr lang="en-US" sz="1300" dirty="0"/>
          </a:p>
        </p:txBody>
      </p:sp>
      <p:sp>
        <p:nvSpPr>
          <p:cNvPr id="18" name="Shape 16"/>
          <p:cNvSpPr/>
          <p:nvPr/>
        </p:nvSpPr>
        <p:spPr>
          <a:xfrm>
            <a:off x="5367528" y="2331720"/>
            <a:ext cx="329184" cy="576072"/>
          </a:xfrm>
          <a:prstGeom prst="line">
            <a:avLst/>
          </a:prstGeom>
          <a:noFill/>
          <a:ln w="22225">
            <a:solidFill>
              <a:schemeClr val="tx2"/>
            </a:solidFill>
            <a:prstDash val="solid"/>
            <a:tailEnd type="triangle"/>
          </a:ln>
        </p:spPr>
        <p:txBody>
          <a:bodyPr/>
          <a:lstStyle/>
          <a:p>
            <a:endParaRPr lang="en-IN"/>
          </a:p>
        </p:txBody>
      </p:sp>
      <p:sp>
        <p:nvSpPr>
          <p:cNvPr id="19" name="Shape 17"/>
          <p:cNvSpPr/>
          <p:nvPr/>
        </p:nvSpPr>
        <p:spPr>
          <a:xfrm flipV="1">
            <a:off x="5367528" y="2944368"/>
            <a:ext cx="329184" cy="576072"/>
          </a:xfrm>
          <a:prstGeom prst="line">
            <a:avLst/>
          </a:prstGeom>
          <a:noFill/>
          <a:ln w="22225">
            <a:solidFill>
              <a:schemeClr val="tx2"/>
            </a:solidFill>
            <a:prstDash val="solid"/>
            <a:tailEnd type="triangle"/>
          </a:ln>
        </p:spPr>
        <p:txBody>
          <a:bodyPr/>
          <a:lstStyle/>
          <a:p>
            <a:endParaRPr lang="en-IN"/>
          </a:p>
        </p:txBody>
      </p:sp>
      <p:sp>
        <p:nvSpPr>
          <p:cNvPr id="20" name="Runway decision"/>
          <p:cNvSpPr/>
          <p:nvPr/>
        </p:nvSpPr>
        <p:spPr>
          <a:xfrm>
            <a:off x="5715000" y="2286000"/>
            <a:ext cx="1371600" cy="1280160"/>
          </a:xfrm>
          <a:prstGeom prst="diamond">
            <a:avLst/>
          </a:prstGeom>
          <a:solidFill>
            <a:schemeClr val="tx1"/>
          </a:solidFill>
          <a:ln w="12700">
            <a:solidFill>
              <a:schemeClr val="tx1"/>
            </a:solidFill>
            <a:prstDash val="solid"/>
          </a:ln>
        </p:spPr>
        <p:txBody>
          <a:bodyPr/>
          <a:lstStyle/>
          <a:p>
            <a:endParaRPr lang="en-IN"/>
          </a:p>
        </p:txBody>
      </p:sp>
      <p:sp>
        <p:nvSpPr>
          <p:cNvPr id="21" name="Runway decision text"/>
          <p:cNvSpPr txBox="1"/>
          <p:nvPr/>
        </p:nvSpPr>
        <p:spPr>
          <a:xfrm>
            <a:off x="5715000" y="2697480"/>
            <a:ext cx="1371600" cy="457200"/>
          </a:xfrm>
          <a:prstGeom prst="rect">
            <a:avLst/>
          </a:prstGeom>
          <a:noFill/>
          <a:ln/>
        </p:spPr>
        <p:txBody>
          <a:bodyPr wrap="square" lIns="0" tIns="0" rIns="0" bIns="0" rtlCol="0" anchor="ctr"/>
          <a:lstStyle/>
          <a:p>
            <a:pPr marL="0" indent="0" algn="ctr">
              <a:buNone/>
            </a:pPr>
            <a:r>
              <a:rPr lang="en-US" sz="1200" b="1" dirty="0">
                <a:solidFill>
                  <a:schemeClr val="bg1"/>
                </a:solidFill>
              </a:rPr>
              <a:t>Free runway?</a:t>
            </a:r>
            <a:endParaRPr lang="en-US" sz="1200" dirty="0"/>
          </a:p>
        </p:txBody>
      </p:sp>
      <p:sp>
        <p:nvSpPr>
          <p:cNvPr id="22" name="Shape 20"/>
          <p:cNvSpPr/>
          <p:nvPr/>
        </p:nvSpPr>
        <p:spPr>
          <a:xfrm>
            <a:off x="7104888" y="2926080"/>
            <a:ext cx="329184" cy="0"/>
          </a:xfrm>
          <a:prstGeom prst="line">
            <a:avLst/>
          </a:prstGeom>
          <a:noFill/>
          <a:ln w="22225">
            <a:solidFill>
              <a:schemeClr val="tx2"/>
            </a:solidFill>
            <a:prstDash val="solid"/>
            <a:tailEnd type="triangle"/>
          </a:ln>
        </p:spPr>
        <p:txBody>
          <a:bodyPr/>
          <a:lstStyle/>
          <a:p>
            <a:endParaRPr lang="en-IN"/>
          </a:p>
        </p:txBody>
      </p:sp>
      <p:sp>
        <p:nvSpPr>
          <p:cNvPr id="23" name="Text 21"/>
          <p:cNvSpPr txBox="1"/>
          <p:nvPr/>
        </p:nvSpPr>
        <p:spPr>
          <a:xfrm>
            <a:off x="7114032" y="2651760"/>
            <a:ext cx="365760" cy="228600"/>
          </a:xfrm>
          <a:prstGeom prst="rect">
            <a:avLst/>
          </a:prstGeom>
          <a:noFill/>
          <a:ln/>
        </p:spPr>
        <p:txBody>
          <a:bodyPr wrap="square" lIns="0" tIns="0" rIns="0" bIns="0" rtlCol="0" anchor="ctr"/>
          <a:lstStyle/>
          <a:p>
            <a:pPr marL="0" indent="0">
              <a:buNone/>
            </a:pPr>
            <a:r>
              <a:rPr lang="en-US" sz="1100" b="1" dirty="0">
                <a:solidFill>
                  <a:schemeClr val="tx2"/>
                </a:solidFill>
              </a:rPr>
              <a:t>Yes</a:t>
            </a:r>
            <a:endParaRPr lang="en-US" sz="1100" dirty="0"/>
          </a:p>
        </p:txBody>
      </p:sp>
      <p:sp>
        <p:nvSpPr>
          <p:cNvPr id="24" name="Records box"/>
          <p:cNvSpPr txBox="1"/>
          <p:nvPr/>
        </p:nvSpPr>
        <p:spPr>
          <a:xfrm>
            <a:off x="7452360" y="2514600"/>
            <a:ext cx="1188720" cy="822960"/>
          </a:xfrm>
          <a:prstGeom prst="roundRect">
            <a:avLst>
              <a:gd name="adj" fmla="val 11111"/>
            </a:avLst>
          </a:prstGeom>
          <a:solidFill>
            <a:schemeClr val="accent3"/>
          </a:solidFill>
          <a:ln/>
        </p:spPr>
        <p:txBody>
          <a:bodyPr wrap="square" lIns="635" tIns="635" rIns="635" bIns="635" rtlCol="0" anchor="ctr"/>
          <a:lstStyle/>
          <a:p>
            <a:pPr marL="0" indent="0" algn="ctr">
              <a:buNone/>
            </a:pPr>
            <a:r>
              <a:rPr lang="en-US" sz="1300" b="1" dirty="0">
                <a:solidFill>
                  <a:schemeClr val="bg1"/>
                </a:solidFill>
              </a:rPr>
              <a:t>Linked List (completed flights)</a:t>
            </a:r>
            <a:endParaRPr lang="en-US" sz="1300" dirty="0"/>
          </a:p>
        </p:txBody>
      </p:sp>
      <p:sp>
        <p:nvSpPr>
          <p:cNvPr id="25" name="Shape 23"/>
          <p:cNvSpPr/>
          <p:nvPr/>
        </p:nvSpPr>
        <p:spPr>
          <a:xfrm>
            <a:off x="6400800" y="3584448"/>
            <a:ext cx="0" cy="457200"/>
          </a:xfrm>
          <a:prstGeom prst="line">
            <a:avLst/>
          </a:prstGeom>
          <a:noFill/>
          <a:ln w="22225">
            <a:solidFill>
              <a:schemeClr val="tx2"/>
            </a:solidFill>
            <a:prstDash val="solid"/>
            <a:tailEnd type="triangle"/>
          </a:ln>
        </p:spPr>
        <p:txBody>
          <a:bodyPr/>
          <a:lstStyle/>
          <a:p>
            <a:endParaRPr lang="en-IN"/>
          </a:p>
        </p:txBody>
      </p:sp>
      <p:sp>
        <p:nvSpPr>
          <p:cNvPr id="26" name="Text 24"/>
          <p:cNvSpPr txBox="1"/>
          <p:nvPr/>
        </p:nvSpPr>
        <p:spPr>
          <a:xfrm>
            <a:off x="6473952" y="3657600"/>
            <a:ext cx="365760" cy="228600"/>
          </a:xfrm>
          <a:prstGeom prst="rect">
            <a:avLst/>
          </a:prstGeom>
          <a:noFill/>
          <a:ln/>
        </p:spPr>
        <p:txBody>
          <a:bodyPr wrap="square" lIns="0" tIns="0" rIns="0" bIns="0" rtlCol="0" anchor="ctr"/>
          <a:lstStyle/>
          <a:p>
            <a:pPr marL="0" indent="0">
              <a:buNone/>
            </a:pPr>
            <a:r>
              <a:rPr lang="en-US" sz="1100" b="1" dirty="0">
                <a:solidFill>
                  <a:schemeClr val="tx2"/>
                </a:solidFill>
              </a:rPr>
              <a:t>No</a:t>
            </a:r>
            <a:endParaRPr lang="en-US" sz="1100" dirty="0"/>
          </a:p>
        </p:txBody>
      </p:sp>
      <p:sp>
        <p:nvSpPr>
          <p:cNvPr id="27" name="Occupied box"/>
          <p:cNvSpPr txBox="1"/>
          <p:nvPr/>
        </p:nvSpPr>
        <p:spPr>
          <a:xfrm>
            <a:off x="5715000" y="4069080"/>
            <a:ext cx="1371600" cy="548640"/>
          </a:xfrm>
          <a:prstGeom prst="roundRect">
            <a:avLst>
              <a:gd name="adj" fmla="val 16667"/>
            </a:avLst>
          </a:prstGeom>
          <a:solidFill>
            <a:schemeClr val="accent5"/>
          </a:solidFill>
          <a:ln/>
        </p:spPr>
        <p:txBody>
          <a:bodyPr wrap="square" lIns="635" tIns="635" rIns="635" bIns="635" rtlCol="0" anchor="ctr"/>
          <a:lstStyle/>
          <a:p>
            <a:pPr marL="0" indent="0" algn="ctr">
              <a:buNone/>
            </a:pPr>
            <a:r>
              <a:rPr lang="en-US" sz="1200" b="1" dirty="0">
                <a:solidFill>
                  <a:schemeClr val="bg1"/>
                </a:solidFill>
              </a:rPr>
              <a:t>All runways occupied</a:t>
            </a:r>
            <a:endParaRPr lang="en-US" sz="1200" dirty="0"/>
          </a:p>
        </p:txBody>
      </p:sp>
      <p:sp>
        <p:nvSpPr>
          <p:cNvPr id="28" name="Text 26"/>
          <p:cNvSpPr txBox="1"/>
          <p:nvPr/>
        </p:nvSpPr>
        <p:spPr>
          <a:xfrm>
            <a:off x="502920" y="4114800"/>
            <a:ext cx="4846320" cy="502920"/>
          </a:xfrm>
          <a:prstGeom prst="rect">
            <a:avLst/>
          </a:prstGeom>
          <a:noFill/>
          <a:ln/>
        </p:spPr>
        <p:txBody>
          <a:bodyPr wrap="square" lIns="0" tIns="0" rIns="0" bIns="0" rtlCol="0" anchor="t"/>
          <a:lstStyle/>
          <a:p>
            <a:pPr marL="0" indent="0">
              <a:buNone/>
            </a:pPr>
            <a:r>
              <a:rPr lang="en-US" sz="1300" i="1" dirty="0">
                <a:solidFill>
                  <a:schemeClr val="tx2"/>
                </a:solidFill>
              </a:rPr>
              <a:t>Process Next Flight always serves the emergency queue first, then the normal queue.</a:t>
            </a:r>
            <a:endParaRPr lang="en-US" sz="1300" dirty="0"/>
          </a:p>
        </p:txBody>
      </p:sp>
      <p:sp>
        <p:nvSpPr>
          <p:cNvPr id="29"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Results &amp; Demonstration:</a:t>
            </a:r>
            <a:endParaRPr lang="en-US" sz="3000" dirty="0"/>
          </a:p>
        </p:txBody>
      </p:sp>
      <p:sp>
        <p:nvSpPr>
          <p:cNvPr id="3" name="Text 1"/>
          <p:cNvSpPr txBox="1"/>
          <p:nvPr/>
        </p:nvSpPr>
        <p:spPr>
          <a:xfrm>
            <a:off x="457200" y="1143000"/>
            <a:ext cx="2560320" cy="320040"/>
          </a:xfrm>
          <a:prstGeom prst="rect">
            <a:avLst/>
          </a:prstGeom>
          <a:noFill/>
          <a:ln/>
        </p:spPr>
        <p:txBody>
          <a:bodyPr wrap="square" lIns="0" tIns="0" rIns="0" bIns="0" rtlCol="0" anchor="ctr"/>
          <a:lstStyle/>
          <a:p>
            <a:pPr marL="0" indent="0">
              <a:buNone/>
            </a:pPr>
            <a:r>
              <a:rPr lang="en-US" sz="1400" b="1" dirty="0">
                <a:solidFill>
                  <a:schemeClr val="accent1"/>
                </a:solidFill>
              </a:rPr>
              <a:t>1. Add flights</a:t>
            </a:r>
            <a:endParaRPr lang="en-US" sz="1400" dirty="0"/>
          </a:p>
        </p:txBody>
      </p:sp>
      <p:sp>
        <p:nvSpPr>
          <p:cNvPr id="4" name="Terminal 1"/>
          <p:cNvSpPr/>
          <p:nvPr/>
        </p:nvSpPr>
        <p:spPr>
          <a:xfrm>
            <a:off x="457200" y="1508760"/>
            <a:ext cx="2560320" cy="1920240"/>
          </a:xfrm>
          <a:prstGeom prst="roundRect">
            <a:avLst>
              <a:gd name="adj" fmla="val 4762"/>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IN"/>
          </a:p>
        </p:txBody>
      </p:sp>
      <p:sp>
        <p:nvSpPr>
          <p:cNvPr id="5" name="Caption 1"/>
          <p:cNvSpPr txBox="1"/>
          <p:nvPr/>
        </p:nvSpPr>
        <p:spPr>
          <a:xfrm>
            <a:off x="457200" y="3566160"/>
            <a:ext cx="2560320" cy="548640"/>
          </a:xfrm>
          <a:prstGeom prst="rect">
            <a:avLst/>
          </a:prstGeom>
          <a:noFill/>
          <a:ln/>
        </p:spPr>
        <p:txBody>
          <a:bodyPr wrap="square" lIns="0" tIns="0" rIns="0" bIns="0" rtlCol="0" anchor="t"/>
          <a:lstStyle/>
          <a:p>
            <a:pPr marL="0" indent="0">
              <a:buNone/>
            </a:pPr>
            <a:r>
              <a:rPr lang="en-US" sz="1300" dirty="0">
                <a:solidFill>
                  <a:schemeClr val="tx1"/>
                </a:solidFill>
              </a:rPr>
              <a:t>Normal and emergency flights go to different queues</a:t>
            </a:r>
            <a:endParaRPr lang="en-US" sz="1300" dirty="0"/>
          </a:p>
        </p:txBody>
      </p:sp>
      <p:sp>
        <p:nvSpPr>
          <p:cNvPr id="6" name="Terminal text 1"/>
          <p:cNvSpPr txBox="1"/>
          <p:nvPr/>
        </p:nvSpPr>
        <p:spPr>
          <a:xfrm>
            <a:off x="594360" y="1627632"/>
            <a:ext cx="2286000" cy="1691640"/>
          </a:xfrm>
          <a:prstGeom prst="rect">
            <a:avLst/>
          </a:prstGeom>
          <a:noFill/>
          <a:ln/>
        </p:spPr>
        <p:txBody>
          <a:bodyPr wrap="square" lIns="0" tIns="0" rIns="0" bIns="0" rtlCol="0" anchor="t"/>
          <a:lstStyle/>
          <a:p>
            <a:pPr marL="0" indent="0">
              <a:buNone/>
            </a:pPr>
            <a:r>
              <a:rPr lang="en-US" sz="1000" b="1" dirty="0">
                <a:solidFill>
                  <a:schemeClr val="accent6"/>
                </a:solidFill>
                <a:latin typeface="Courier New" pitchFamily="34" charset="0"/>
                <a:ea typeface="Courier New" pitchFamily="34" charset="-122"/>
                <a:cs typeface="Courier New" pitchFamily="34" charset="-120"/>
              </a:rPr>
              <a:t>&gt; 1  Add Flight</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No: 101</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Name: AI101</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added to normal</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queue.</a:t>
            </a:r>
          </a:p>
          <a:p>
            <a:pPr marL="0" indent="0">
              <a:buNone/>
            </a:pPr>
            <a:endParaRPr lang="en-US" sz="1000" dirty="0">
              <a:solidFill>
                <a:schemeClr val="bg2"/>
              </a:solidFill>
              <a:latin typeface="Courier New" pitchFamily="34" charset="0"/>
              <a:cs typeface="Courier New" pitchFamily="34" charset="-120"/>
            </a:endParaRPr>
          </a:p>
          <a:p>
            <a:pPr marL="0" indent="0">
              <a:buNone/>
            </a:pPr>
            <a:endParaRPr lang="en-US" sz="1000" dirty="0"/>
          </a:p>
          <a:p>
            <a:pPr marL="0" indent="0">
              <a:buNone/>
            </a:pPr>
            <a:r>
              <a:rPr lang="en-US" sz="1000" b="1" dirty="0">
                <a:solidFill>
                  <a:schemeClr val="accent6"/>
                </a:solidFill>
                <a:latin typeface="Courier New" pitchFamily="34" charset="0"/>
                <a:ea typeface="Courier New" pitchFamily="34" charset="-122"/>
                <a:cs typeface="Courier New" pitchFamily="34" charset="-120"/>
              </a:rPr>
              <a:t>&gt; 4  Emergency Landing</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added to priority</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queue.</a:t>
            </a:r>
            <a:endParaRPr lang="en-US" sz="1000" dirty="0"/>
          </a:p>
        </p:txBody>
      </p:sp>
      <p:sp>
        <p:nvSpPr>
          <p:cNvPr id="7" name="Text 5"/>
          <p:cNvSpPr txBox="1"/>
          <p:nvPr/>
        </p:nvSpPr>
        <p:spPr>
          <a:xfrm>
            <a:off x="3291840" y="1143000"/>
            <a:ext cx="2560320" cy="320040"/>
          </a:xfrm>
          <a:prstGeom prst="rect">
            <a:avLst/>
          </a:prstGeom>
          <a:noFill/>
          <a:ln/>
        </p:spPr>
        <p:txBody>
          <a:bodyPr wrap="square" lIns="0" tIns="0" rIns="0" bIns="0" rtlCol="0" anchor="ctr"/>
          <a:lstStyle/>
          <a:p>
            <a:pPr marL="0" indent="0">
              <a:buNone/>
            </a:pPr>
            <a:r>
              <a:rPr lang="en-US" sz="1400" b="1" dirty="0">
                <a:solidFill>
                  <a:schemeClr val="accent2"/>
                </a:solidFill>
              </a:rPr>
              <a:t>2. Process next flight</a:t>
            </a:r>
            <a:endParaRPr lang="en-US" sz="1400" dirty="0"/>
          </a:p>
        </p:txBody>
      </p:sp>
      <p:sp>
        <p:nvSpPr>
          <p:cNvPr id="8" name="Terminal 2"/>
          <p:cNvSpPr/>
          <p:nvPr/>
        </p:nvSpPr>
        <p:spPr>
          <a:xfrm>
            <a:off x="3291840" y="1508760"/>
            <a:ext cx="2560320" cy="1920240"/>
          </a:xfrm>
          <a:prstGeom prst="roundRect">
            <a:avLst>
              <a:gd name="adj" fmla="val 4762"/>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IN"/>
          </a:p>
        </p:txBody>
      </p:sp>
      <p:sp>
        <p:nvSpPr>
          <p:cNvPr id="9" name="Caption 2"/>
          <p:cNvSpPr txBox="1"/>
          <p:nvPr/>
        </p:nvSpPr>
        <p:spPr>
          <a:xfrm>
            <a:off x="3291840" y="3566160"/>
            <a:ext cx="2560320" cy="548640"/>
          </a:xfrm>
          <a:prstGeom prst="rect">
            <a:avLst/>
          </a:prstGeom>
          <a:noFill/>
          <a:ln/>
        </p:spPr>
        <p:txBody>
          <a:bodyPr wrap="square" lIns="0" tIns="0" rIns="0" bIns="0" rtlCol="0" anchor="t"/>
          <a:lstStyle/>
          <a:p>
            <a:pPr marL="0" indent="0">
              <a:buNone/>
            </a:pPr>
            <a:r>
              <a:rPr lang="en-US" sz="1300" dirty="0">
                <a:solidFill>
                  <a:schemeClr val="tx1"/>
                </a:solidFill>
              </a:rPr>
              <a:t>Emergency flight 202 is served first</a:t>
            </a:r>
            <a:endParaRPr lang="en-US" sz="1300" dirty="0"/>
          </a:p>
        </p:txBody>
      </p:sp>
      <p:sp>
        <p:nvSpPr>
          <p:cNvPr id="10" name="Terminal text 2"/>
          <p:cNvSpPr txBox="1"/>
          <p:nvPr/>
        </p:nvSpPr>
        <p:spPr>
          <a:xfrm>
            <a:off x="3429000" y="1627632"/>
            <a:ext cx="2286000" cy="1691640"/>
          </a:xfrm>
          <a:prstGeom prst="rect">
            <a:avLst/>
          </a:prstGeom>
          <a:noFill/>
          <a:ln/>
        </p:spPr>
        <p:txBody>
          <a:bodyPr wrap="square" lIns="0" tIns="0" rIns="0" bIns="0" rtlCol="0" anchor="t"/>
          <a:lstStyle/>
          <a:p>
            <a:pPr marL="0" indent="0">
              <a:buNone/>
            </a:pPr>
            <a:r>
              <a:rPr lang="en-US" sz="1000" b="1" dirty="0">
                <a:solidFill>
                  <a:schemeClr val="accent6"/>
                </a:solidFill>
                <a:latin typeface="Courier New" pitchFamily="34" charset="0"/>
                <a:ea typeface="Courier New" pitchFamily="34" charset="-122"/>
                <a:cs typeface="Courier New" pitchFamily="34" charset="-120"/>
              </a:rPr>
              <a:t>&gt; 5  Process Next Flight</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 Flight Processed --</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Number: 202</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Flight Name: IND202</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Operation: Emergency</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Runway: 1</a:t>
            </a:r>
            <a:endParaRPr lang="en-US" sz="1000" dirty="0"/>
          </a:p>
        </p:txBody>
      </p:sp>
      <p:sp>
        <p:nvSpPr>
          <p:cNvPr id="11" name="Text 9"/>
          <p:cNvSpPr txBox="1"/>
          <p:nvPr/>
        </p:nvSpPr>
        <p:spPr>
          <a:xfrm>
            <a:off x="6126480" y="1143000"/>
            <a:ext cx="2560320" cy="320040"/>
          </a:xfrm>
          <a:prstGeom prst="rect">
            <a:avLst/>
          </a:prstGeom>
          <a:noFill/>
          <a:ln/>
        </p:spPr>
        <p:txBody>
          <a:bodyPr wrap="square" lIns="0" tIns="0" rIns="0" bIns="0" rtlCol="0" anchor="ctr"/>
          <a:lstStyle/>
          <a:p>
            <a:pPr marL="0" indent="0">
              <a:buNone/>
            </a:pPr>
            <a:r>
              <a:rPr lang="en-US" sz="1400" b="1" dirty="0">
                <a:solidFill>
                  <a:schemeClr val="accent3"/>
                </a:solidFill>
              </a:rPr>
              <a:t>3. Airport status</a:t>
            </a:r>
            <a:endParaRPr lang="en-US" sz="1400" dirty="0"/>
          </a:p>
        </p:txBody>
      </p:sp>
      <p:sp>
        <p:nvSpPr>
          <p:cNvPr id="12" name="Terminal 3"/>
          <p:cNvSpPr/>
          <p:nvPr/>
        </p:nvSpPr>
        <p:spPr>
          <a:xfrm>
            <a:off x="6126480" y="1508760"/>
            <a:ext cx="2560320" cy="1920240"/>
          </a:xfrm>
          <a:prstGeom prst="roundRect">
            <a:avLst>
              <a:gd name="adj" fmla="val 4762"/>
            </a:avLst>
          </a:prstGeom>
          <a:solidFill>
            <a:schemeClr val="tx1"/>
          </a:solidFill>
          <a:ln w="12700">
            <a:solidFill>
              <a:schemeClr val="tx1"/>
            </a:solidFill>
            <a:prstDash val="solid"/>
          </a:ln>
          <a:effectLst>
            <a:outerShdw blurRad="76200" dist="25400" dir="5400000" algn="bl" rotWithShape="0">
              <a:srgbClr val="000000">
                <a:alpha val="12000"/>
              </a:srgbClr>
            </a:outerShdw>
          </a:effectLst>
        </p:spPr>
        <p:txBody>
          <a:bodyPr/>
          <a:lstStyle/>
          <a:p>
            <a:endParaRPr lang="en-IN"/>
          </a:p>
        </p:txBody>
      </p:sp>
      <p:sp>
        <p:nvSpPr>
          <p:cNvPr id="13" name="Caption 3"/>
          <p:cNvSpPr txBox="1"/>
          <p:nvPr/>
        </p:nvSpPr>
        <p:spPr>
          <a:xfrm>
            <a:off x="6126480" y="3566160"/>
            <a:ext cx="2560320" cy="548640"/>
          </a:xfrm>
          <a:prstGeom prst="rect">
            <a:avLst/>
          </a:prstGeom>
          <a:noFill/>
          <a:ln/>
        </p:spPr>
        <p:txBody>
          <a:bodyPr wrap="square" lIns="0" tIns="0" rIns="0" bIns="0" rtlCol="0" anchor="t"/>
          <a:lstStyle/>
          <a:p>
            <a:pPr marL="0" indent="0">
              <a:buNone/>
            </a:pPr>
            <a:r>
              <a:rPr lang="en-US" sz="1300" dirty="0">
                <a:solidFill>
                  <a:schemeClr val="tx1"/>
                </a:solidFill>
              </a:rPr>
              <a:t>One runway busy, one flight still waiting</a:t>
            </a:r>
            <a:endParaRPr lang="en-US" sz="1300" dirty="0"/>
          </a:p>
        </p:txBody>
      </p:sp>
      <p:sp>
        <p:nvSpPr>
          <p:cNvPr id="14" name="Terminal text 3"/>
          <p:cNvSpPr txBox="1"/>
          <p:nvPr/>
        </p:nvSpPr>
        <p:spPr>
          <a:xfrm>
            <a:off x="6263640" y="1627632"/>
            <a:ext cx="2286000" cy="1691640"/>
          </a:xfrm>
          <a:prstGeom prst="rect">
            <a:avLst/>
          </a:prstGeom>
          <a:noFill/>
          <a:ln/>
        </p:spPr>
        <p:txBody>
          <a:bodyPr wrap="square" lIns="0" tIns="0" rIns="0" bIns="0" rtlCol="0" anchor="t"/>
          <a:lstStyle/>
          <a:p>
            <a:pPr marL="0" indent="0">
              <a:buNone/>
            </a:pPr>
            <a:r>
              <a:rPr lang="en-US" sz="1000" b="1" dirty="0">
                <a:solidFill>
                  <a:schemeClr val="accent6"/>
                </a:solidFill>
                <a:latin typeface="Courier New" pitchFamily="34" charset="0"/>
                <a:ea typeface="Courier New" pitchFamily="34" charset="-122"/>
                <a:cs typeface="Courier New" pitchFamily="34" charset="-120"/>
              </a:rPr>
              <a:t>&gt; 10  Airport Status</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Runway 1: OCCUPIED</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Runway 2: FREE</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Runway 3: FREE</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Waiting Emergency Flights: 0</a:t>
            </a:r>
            <a:endParaRPr lang="en-US" sz="1000" dirty="0"/>
          </a:p>
          <a:p>
            <a:pPr marL="0" indent="0">
              <a:buNone/>
            </a:pPr>
            <a:r>
              <a:rPr lang="en-US" sz="1000" dirty="0">
                <a:solidFill>
                  <a:schemeClr val="bg2"/>
                </a:solidFill>
                <a:latin typeface="Courier New" pitchFamily="34" charset="0"/>
                <a:ea typeface="Courier New" pitchFamily="34" charset="-122"/>
                <a:cs typeface="Courier New" pitchFamily="34" charset="-120"/>
              </a:rPr>
              <a:t>Waiting Normal Flights: 1</a:t>
            </a:r>
            <a:endParaRPr lang="en-US" sz="1000" dirty="0"/>
          </a:p>
        </p:txBody>
      </p:sp>
      <p:sp>
        <p:nvSpPr>
          <p:cNvPr id="15" name="Text 13"/>
          <p:cNvSpPr txBox="1"/>
          <p:nvPr/>
        </p:nvSpPr>
        <p:spPr>
          <a:xfrm>
            <a:off x="457200" y="4297680"/>
            <a:ext cx="7772400" cy="274320"/>
          </a:xfrm>
          <a:prstGeom prst="rect">
            <a:avLst/>
          </a:prstGeom>
          <a:noFill/>
          <a:ln/>
        </p:spPr>
        <p:txBody>
          <a:bodyPr wrap="square" lIns="0" tIns="0" rIns="0" bIns="0" rtlCol="0" anchor="ctr"/>
          <a:lstStyle/>
          <a:p>
            <a:pPr marL="0" indent="0">
              <a:buNone/>
            </a:pP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13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74320"/>
            <a:ext cx="8046720" cy="685800"/>
          </a:xfrm>
          <a:prstGeom prst="rect">
            <a:avLst/>
          </a:prstGeom>
          <a:noFill/>
          <a:ln/>
        </p:spPr>
        <p:txBody>
          <a:bodyPr wrap="square" lIns="0" tIns="0" rIns="0" bIns="0" rtlCol="0" anchor="ctr"/>
          <a:lstStyle/>
          <a:p>
            <a:pPr marL="0" indent="0" algn="l">
              <a:buNone/>
            </a:pPr>
            <a:r>
              <a:rPr lang="en-US" sz="3000" b="1" i="1" dirty="0">
                <a:solidFill>
                  <a:schemeClr val="bg1"/>
                </a:solidFill>
              </a:rPr>
              <a:t>Conclusion &amp; GitHub</a:t>
            </a:r>
            <a:endParaRPr lang="en-US" sz="3000" i="1" dirty="0"/>
          </a:p>
        </p:txBody>
      </p:sp>
      <p:sp>
        <p:nvSpPr>
          <p:cNvPr id="3" name="Text 1"/>
          <p:cNvSpPr txBox="1"/>
          <p:nvPr/>
        </p:nvSpPr>
        <p:spPr>
          <a:xfrm>
            <a:off x="548640" y="1143000"/>
            <a:ext cx="4754880" cy="320040"/>
          </a:xfrm>
          <a:prstGeom prst="rect">
            <a:avLst/>
          </a:prstGeom>
          <a:noFill/>
          <a:ln/>
        </p:spPr>
        <p:txBody>
          <a:bodyPr wrap="square" lIns="0" tIns="0" rIns="0" bIns="0" rtlCol="0" anchor="ctr"/>
          <a:lstStyle/>
          <a:p>
            <a:pPr marL="0" indent="0">
              <a:buNone/>
            </a:pPr>
            <a:r>
              <a:rPr lang="en-US" sz="1800" b="1" dirty="0">
                <a:solidFill>
                  <a:schemeClr val="accent6"/>
                </a:solidFill>
              </a:rPr>
              <a:t>Project Summary</a:t>
            </a:r>
            <a:endParaRPr lang="en-US" sz="1800" dirty="0"/>
          </a:p>
        </p:txBody>
      </p:sp>
      <p:sp>
        <p:nvSpPr>
          <p:cNvPr id="4" name="Text 2"/>
          <p:cNvSpPr txBox="1"/>
          <p:nvPr/>
        </p:nvSpPr>
        <p:spPr>
          <a:xfrm>
            <a:off x="548640" y="1508760"/>
            <a:ext cx="4754880" cy="731520"/>
          </a:xfrm>
          <a:prstGeom prst="rect">
            <a:avLst/>
          </a:prstGeom>
          <a:noFill/>
          <a:ln/>
        </p:spPr>
        <p:txBody>
          <a:bodyPr wrap="square" lIns="0" tIns="0" rIns="0" bIns="0" rtlCol="0" anchor="t"/>
          <a:lstStyle/>
          <a:p>
            <a:pPr marL="0" indent="0">
              <a:buNone/>
            </a:pPr>
            <a:r>
              <a:rPr lang="en-US" sz="1400" dirty="0">
                <a:solidFill>
                  <a:schemeClr val="bg1"/>
                </a:solidFill>
              </a:rPr>
              <a:t>A C program that schedules flights on 3 runways. Emergencies always go first, and every completed flight is recorded.</a:t>
            </a:r>
            <a:endParaRPr lang="en-US" sz="1400" dirty="0"/>
          </a:p>
        </p:txBody>
      </p:sp>
      <p:sp>
        <p:nvSpPr>
          <p:cNvPr id="5" name="Text 3"/>
          <p:cNvSpPr txBox="1"/>
          <p:nvPr/>
        </p:nvSpPr>
        <p:spPr>
          <a:xfrm>
            <a:off x="548640" y="2377440"/>
            <a:ext cx="4754880" cy="320040"/>
          </a:xfrm>
          <a:prstGeom prst="rect">
            <a:avLst/>
          </a:prstGeom>
          <a:noFill/>
          <a:ln/>
        </p:spPr>
        <p:txBody>
          <a:bodyPr wrap="square" lIns="0" tIns="0" rIns="0" bIns="0" rtlCol="0" anchor="ctr"/>
          <a:lstStyle/>
          <a:p>
            <a:pPr marL="0" indent="0">
              <a:buNone/>
            </a:pPr>
            <a:r>
              <a:rPr lang="en-US" sz="1800" b="1" dirty="0">
                <a:solidFill>
                  <a:schemeClr val="accent6"/>
                </a:solidFill>
              </a:rPr>
              <a:t>Key Learnings</a:t>
            </a:r>
            <a:endParaRPr lang="en-US" sz="1800" dirty="0"/>
          </a:p>
        </p:txBody>
      </p:sp>
      <p:sp>
        <p:nvSpPr>
          <p:cNvPr id="6" name="Text 4"/>
          <p:cNvSpPr txBox="1"/>
          <p:nvPr/>
        </p:nvSpPr>
        <p:spPr>
          <a:xfrm>
            <a:off x="548640" y="2743200"/>
            <a:ext cx="475488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Right data structure = right behaviour</a:t>
            </a:r>
            <a:endParaRPr lang="en-US" sz="1400" dirty="0"/>
          </a:p>
          <a:p>
            <a:pPr marL="342900" indent="-342900">
              <a:spcAft>
                <a:spcPts val="500"/>
              </a:spcAft>
              <a:buSzPct val="100000"/>
              <a:buChar char="•"/>
            </a:pPr>
            <a:r>
              <a:rPr lang="en-US" sz="1400" dirty="0">
                <a:solidFill>
                  <a:schemeClr val="bg1"/>
                </a:solidFill>
              </a:rPr>
              <a:t>Queue gives fairness, priority queue gives urgency</a:t>
            </a:r>
            <a:endParaRPr lang="en-US" sz="1400" dirty="0"/>
          </a:p>
          <a:p>
            <a:pPr marL="342900" indent="-342900">
              <a:spcAft>
                <a:spcPts val="500"/>
              </a:spcAft>
              <a:buSzPct val="100000"/>
              <a:buChar char="•"/>
            </a:pPr>
            <a:r>
              <a:rPr lang="en-US" sz="1400" dirty="0">
                <a:solidFill>
                  <a:schemeClr val="bg1"/>
                </a:solidFill>
              </a:rPr>
              <a:t>Linked list grows without a fixed size</a:t>
            </a:r>
            <a:endParaRPr lang="en-US" sz="1400" dirty="0"/>
          </a:p>
          <a:p>
            <a:pPr marL="342900" indent="-342900">
              <a:spcAft>
                <a:spcPts val="500"/>
              </a:spcAft>
              <a:buSzPct val="100000"/>
              <a:buChar char="•"/>
            </a:pPr>
            <a:r>
              <a:rPr lang="en-US" sz="1400" dirty="0">
                <a:solidFill>
                  <a:schemeClr val="bg1"/>
                </a:solidFill>
              </a:rPr>
              <a:t>Next: free runways, use a heap</a:t>
            </a:r>
            <a:endParaRPr lang="en-US" sz="1400" dirty="0"/>
          </a:p>
        </p:txBody>
      </p:sp>
      <p:sp>
        <p:nvSpPr>
          <p:cNvPr id="7" name="GitHub card"/>
          <p:cNvSpPr/>
          <p:nvPr/>
        </p:nvSpPr>
        <p:spPr>
          <a:xfrm>
            <a:off x="5669280" y="1188720"/>
            <a:ext cx="2926080" cy="1554480"/>
          </a:xfrm>
          <a:prstGeom prst="roundRect">
            <a:avLst>
              <a:gd name="adj" fmla="val 7059"/>
            </a:avLst>
          </a:prstGeom>
          <a:solidFill>
            <a:schemeClr val="bg2">
              <a:lumMod val="50000"/>
            </a:schemeClr>
          </a:solidFill>
          <a:ln w="12700">
            <a:solidFill>
              <a:schemeClr val="tx2"/>
            </a:solidFill>
            <a:prstDash val="solid"/>
          </a:ln>
        </p:spPr>
        <p:txBody>
          <a:bodyPr/>
          <a:lstStyle/>
          <a:p>
            <a:endParaRPr lang="en-IN" dirty="0"/>
          </a:p>
        </p:txBody>
      </p:sp>
      <p:pic>
        <p:nvPicPr>
          <p:cNvPr id="8" name="GitHub icon" descr="GitHub"/>
          <p:cNvPicPr>
            <a:picLocks noChangeAspect="1"/>
          </p:cNvPicPr>
          <p:nvPr/>
        </p:nvPicPr>
        <p:blipFill>
          <a:blip r:embed="rId3"/>
          <a:stretch>
            <a:fillRect/>
          </a:stretch>
        </p:blipFill>
        <p:spPr>
          <a:xfrm>
            <a:off x="5897880" y="1417320"/>
            <a:ext cx="502920" cy="502920"/>
          </a:xfrm>
          <a:prstGeom prst="rect">
            <a:avLst/>
          </a:prstGeom>
        </p:spPr>
      </p:pic>
      <p:sp>
        <p:nvSpPr>
          <p:cNvPr id="9" name="Text 6"/>
          <p:cNvSpPr txBox="1"/>
          <p:nvPr/>
        </p:nvSpPr>
        <p:spPr>
          <a:xfrm>
            <a:off x="6537960" y="1417320"/>
            <a:ext cx="2011680" cy="502920"/>
          </a:xfrm>
          <a:prstGeom prst="rect">
            <a:avLst/>
          </a:prstGeom>
          <a:noFill/>
          <a:ln/>
        </p:spPr>
        <p:txBody>
          <a:bodyPr wrap="square" lIns="0" tIns="0" rIns="0" bIns="0" rtlCol="0" anchor="ctr"/>
          <a:lstStyle/>
          <a:p>
            <a:pPr marL="0" indent="0">
              <a:buNone/>
            </a:pPr>
            <a:endParaRPr lang="en-US" sz="1600" b="1" dirty="0">
              <a:solidFill>
                <a:schemeClr val="bg1"/>
              </a:solidFill>
            </a:endParaRPr>
          </a:p>
          <a:p>
            <a:pPr marL="0" indent="0">
              <a:buNone/>
            </a:pPr>
            <a:r>
              <a:rPr lang="en-US" sz="1600" b="1" dirty="0">
                <a:solidFill>
                  <a:schemeClr val="bg1"/>
                </a:solidFill>
              </a:rPr>
              <a:t>GitHub Repository</a:t>
            </a:r>
          </a:p>
          <a:p>
            <a:pPr marL="0" indent="0">
              <a:buNone/>
            </a:pPr>
            <a:br>
              <a:rPr lang="en-US" sz="1600" b="1" dirty="0">
                <a:solidFill>
                  <a:schemeClr val="bg1"/>
                </a:solidFill>
              </a:rPr>
            </a:br>
            <a:r>
              <a:rPr lang="en-US" sz="1100" b="1" i="1" dirty="0">
                <a:solidFill>
                  <a:schemeClr val="bg1"/>
                </a:solidFill>
              </a:rPr>
              <a:t>click here:</a:t>
            </a:r>
            <a:endParaRPr lang="en-US" sz="1100" i="1" dirty="0"/>
          </a:p>
        </p:txBody>
      </p:sp>
      <p:sp>
        <p:nvSpPr>
          <p:cNvPr id="10" name="Text 7"/>
          <p:cNvSpPr txBox="1"/>
          <p:nvPr/>
        </p:nvSpPr>
        <p:spPr>
          <a:xfrm>
            <a:off x="6262277" y="2240280"/>
            <a:ext cx="1740085" cy="365760"/>
          </a:xfrm>
          <a:prstGeom prst="rect">
            <a:avLst/>
          </a:prstGeom>
          <a:noFill/>
          <a:ln/>
        </p:spPr>
        <p:txBody>
          <a:bodyPr wrap="square" lIns="0" tIns="0" rIns="0" bIns="0" rtlCol="0" anchor="ctr"/>
          <a:lstStyle/>
          <a:p>
            <a:pPr algn="ctr"/>
            <a:r>
              <a:rPr lang="en-IN" u="sng" dirty="0">
                <a:latin typeface="Georgia" panose="02040502050405020303" pitchFamily="18" charset="0"/>
                <a:hlinkClick r:id="rId4">
                  <a:extLst>
                    <a:ext uri="{A12FA001-AC4F-418D-AE19-62706E023703}">
                      <ahyp:hlinkClr xmlns:ahyp="http://schemas.microsoft.com/office/drawing/2018/hyperlinkcolor" val="tx"/>
                    </a:ext>
                  </a:extLst>
                </a:hlinkClick>
              </a:rPr>
              <a:t>GITHUB LINK</a:t>
            </a:r>
            <a:r>
              <a:rPr lang="en-IN" u="sng" dirty="0">
                <a:latin typeface="Georgia" panose="02040502050405020303" pitchFamily="18" charset="0"/>
              </a:rPr>
              <a:t> </a:t>
            </a:r>
          </a:p>
        </p:txBody>
      </p:sp>
      <p:sp>
        <p:nvSpPr>
          <p:cNvPr id="11" name="Text 8"/>
          <p:cNvSpPr txBox="1"/>
          <p:nvPr/>
        </p:nvSpPr>
        <p:spPr>
          <a:xfrm>
            <a:off x="5669280" y="3108960"/>
            <a:ext cx="2926080" cy="914400"/>
          </a:xfrm>
          <a:prstGeom prst="rect">
            <a:avLst/>
          </a:prstGeom>
          <a:noFill/>
          <a:ln/>
        </p:spPr>
        <p:txBody>
          <a:bodyPr wrap="square" lIns="0" tIns="0" rIns="0" bIns="0" rtlCol="0" anchor="ctr"/>
          <a:lstStyle/>
          <a:p>
            <a:pPr marL="0" indent="0" algn="ctr">
              <a:buNone/>
            </a:pPr>
            <a:r>
              <a:rPr lang="en-US" sz="3600" b="1" dirty="0">
                <a:solidFill>
                  <a:schemeClr val="bg1"/>
                </a:solidFill>
              </a:rPr>
              <a:t>Thank You!</a:t>
            </a:r>
            <a:endParaRPr lang="en-US" sz="3600" dirty="0"/>
          </a:p>
        </p:txBody>
      </p:sp>
      <p:pic>
        <p:nvPicPr>
          <p:cNvPr id="15" name="Picture 14">
            <a:extLst>
              <a:ext uri="{FF2B5EF4-FFF2-40B4-BE49-F238E27FC236}">
                <a16:creationId xmlns:a16="http://schemas.microsoft.com/office/drawing/2014/main" id="{05E4D5D6-13E8-45C3-BCC1-E1CF6F8165EF}"/>
              </a:ext>
            </a:extLst>
          </p:cNvPr>
          <p:cNvPicPr>
            <a:picLocks noChangeAspect="1"/>
          </p:cNvPicPr>
          <p:nvPr/>
        </p:nvPicPr>
        <p:blipFill>
          <a:blip r:embed="rId5"/>
          <a:stretch>
            <a:fillRect/>
          </a:stretch>
        </p:blipFill>
        <p:spPr>
          <a:xfrm>
            <a:off x="6058795" y="2301492"/>
            <a:ext cx="215379" cy="215379"/>
          </a:xfrm>
          <a:prstGeom prst="rect">
            <a:avLst/>
          </a:prstGeom>
          <a:effectLst>
            <a:reflection blurRad="6350" stA="50000" endA="275" endPos="40000" dist="101600" dir="5400000" sy="-100000" algn="bl" rotWithShape="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Airport DSA">
  <a:themeElements>
    <a:clrScheme name="Airport DSA">
      <a:dk1>
        <a:srgbClr val="0B2545"/>
      </a:dk1>
      <a:lt1>
        <a:srgbClr val="FFFFFF"/>
      </a:lt1>
      <a:dk2>
        <a:srgbClr val="2B4570"/>
      </a:dk2>
      <a:lt2>
        <a:srgbClr val="EEF4FA"/>
      </a:lt2>
      <a:accent1>
        <a:srgbClr val="1D6FB8"/>
      </a:accent1>
      <a:accent2>
        <a:srgbClr val="C85A00"/>
      </a:accent2>
      <a:accent3>
        <a:srgbClr val="1E8E5A"/>
      </a:accent3>
      <a:accent4>
        <a:srgbClr val="5A6B7F"/>
      </a:accent4>
      <a:accent5>
        <a:srgbClr val="B3261E"/>
      </a:accent5>
      <a:accent6>
        <a:srgbClr val="8FD0FF"/>
      </a:accent6>
      <a:hlink>
        <a:srgbClr val="1D6FB8"/>
      </a:hlink>
      <a:folHlink>
        <a:srgbClr val="5A6B7F"/>
      </a:folHlink>
    </a:clrScheme>
    <a:fontScheme name="Airport D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3882</Words>
  <Application>Microsoft Office PowerPoint</Application>
  <PresentationFormat>On-screen Show (16:9)</PresentationFormat>
  <Paragraphs>208</Paragraphs>
  <Slides>14</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vt:lpstr>
      <vt:lpstr>Courier New</vt:lpstr>
      <vt:lpstr>Georgia</vt:lpstr>
      <vt:lpstr>Airport DSA</vt:lpstr>
      <vt:lpstr>Airport Flight Management System</vt:lpstr>
      <vt:lpstr>Project Overview</vt:lpstr>
      <vt:lpstr>System Design &amp; Pipeline</vt:lpstr>
      <vt:lpstr>Data Structures Used</vt:lpstr>
      <vt:lpstr>Why These Data Structures?</vt:lpstr>
      <vt:lpstr>PowerPoint Presentation</vt:lpstr>
      <vt:lpstr>Algorithms Used</vt:lpstr>
      <vt:lpstr>PowerPoint Presentation</vt:lpstr>
      <vt:lpstr>PowerPoint Presentation</vt:lpstr>
      <vt:lpstr>PowerPoint Presentation</vt:lpstr>
      <vt:lpstr>Time Complexity Analysis</vt:lpstr>
      <vt:lpstr>System Flowchart</vt:lpstr>
      <vt:lpstr>Results &amp; Demonstration:</vt:lpstr>
      <vt:lpstr>Conclusion &amp; GitHub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Airport Flight Management System</dc:title>
  <dc:subject>PptxGenJS Presentation</dc:subject>
  <dc:creator>PptxGenJS</dc:creator>
  <cp:lastModifiedBy>Pranjay Jain</cp:lastModifiedBy>
  <cp:revision>5</cp:revision>
  <dcterms:created xsi:type="dcterms:W3CDTF">2026-10-07T16:18:30Z</dcterms:created>
  <dcterms:modified xsi:type="dcterms:W3CDTF">2026-10-15T06:47:55Z</dcterms:modified>
</cp:coreProperties>
</file>